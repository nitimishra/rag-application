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Niti Mishra, from Batch 1 of Cloud Computing. Today I will be presenting my project titled 'Retrieval-Augmented Generation Application' built using LangChain, ChromaDB, Hugging Face Embeddings, OpenRouter LLM and Docker. I will walk you through the problem, the architecture, the technologies used, and what I learned while building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large language models answer only from what they learned during training, so their knowledge is fixed and can become outdated. They also suffer from hallucination, meaning they sometimes generate answers that look correct but are actually wrong. They also cannot read private or domain-specific documents on their own. This is exactly the gap that Retrieval-Augmented Generation, or RAG, is designed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this project was to build a working local RAG pipeline that can retrieve relevant documents and generate context-aware answers. I also wanted the system to support conversation history so follow-up questions make sense, and to manage API keys securely instead of hardcoding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pipeline. A user query first goes through history-aware question generation, which rewrites it using earlier conversation context. The retriever then searches ChromaDB for the most relevant document chunks using vector similarity. These relevant documents, along with the query, are sent to the LLM — Tencent Hunyuan, accessed through OpenRouter — which generates the final grounded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Python as the base language, with LangChain to orchestrate the RAG pipeline. ChromaDB stores document embeddings, which are generated using Hugging Face embedding models. For generation, I used OpenRouter's API to access the Tencent Hunyuan model. Streamlit was used to build the interactive web UI for the application. dotenv keeps API keys secure, Docker makes the app portable, and VS Code was my development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starts with loading source documents and converting them into embeddings, which are stored in ChromaDB. When a user asks a question, the system first reformulates it using conversation history, then retrieves the most relevant chunks from the vector store, and finally generates the answer using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supports semantic search and context retrieval so answers are grounded in the actual documents. It is history-aware, so it handles follow-up questions naturally. ChromaDB gives fast vector search, and the whole application can run inside Docker. The code is modular, and API keys are managed safely using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project came with real challenges. Understanding how vector databases work, setting up Docker correctly, and managing embeddings took time to get right. I also learned API integration, prompt engineering to guide the LLM properly, using Git and GitHub for version control, and how LangChain chains tie the whole retrieval and generation process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successfully built a functional RAG application that retrieves relevant context and generates accurate, history-aware answers. Going forward, this can be extended with a web interface, PDF upload support, multiple LLM options, better reranking, authentication, and cloud deployment.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B4D"/>
          </a:solidFill>
          <a:ln/>
        </p:spPr>
      </p:sp>
      <p:sp>
        <p:nvSpPr>
          <p:cNvPr id="3" name="Shape 1"/>
          <p:cNvSpPr/>
          <p:nvPr/>
        </p:nvSpPr>
        <p:spPr>
          <a:xfrm>
            <a:off x="-1280160" y="4846320"/>
            <a:ext cx="3291840" cy="3291840"/>
          </a:xfrm>
          <a:prstGeom prst="ellipse">
            <a:avLst/>
          </a:prstGeom>
          <a:solidFill>
            <a:srgbClr val="141B4D"/>
          </a:solidFill>
          <a:ln/>
        </p:spPr>
      </p:sp>
      <p:sp>
        <p:nvSpPr>
          <p:cNvPr id="4" name="Text 2"/>
          <p:cNvSpPr/>
          <p:nvPr/>
        </p:nvSpPr>
        <p:spPr>
          <a:xfrm>
            <a:off x="822960" y="1554480"/>
            <a:ext cx="10515600" cy="365760"/>
          </a:xfrm>
          <a:prstGeom prst="rect">
            <a:avLst/>
          </a:prstGeom>
          <a:noFill/>
          <a:ln/>
        </p:spPr>
        <p:txBody>
          <a:bodyPr wrap="square" rtlCol="0" anchor="ctr"/>
          <a:lstStyle/>
          <a:p>
            <a:pPr indent="0" marL="0">
              <a:buNone/>
            </a:pPr>
            <a:r>
              <a:rPr lang="en-US" sz="1400" spc="200" kern="0" dirty="0">
                <a:solidFill>
                  <a:srgbClr val="CADCFC"/>
                </a:solidFill>
                <a:latin typeface="Calibri" pitchFamily="34" charset="0"/>
                <a:ea typeface="Calibri" pitchFamily="34" charset="-122"/>
                <a:cs typeface="Calibri" pitchFamily="34" charset="-120"/>
              </a:rPr>
              <a:t>CLOUD COMPUTING • BATCH 1</a:t>
            </a:r>
            <a:endParaRPr lang="en-US" sz="1400" dirty="0"/>
          </a:p>
        </p:txBody>
      </p:sp>
      <p:sp>
        <p:nvSpPr>
          <p:cNvPr id="5" name="Text 3"/>
          <p:cNvSpPr/>
          <p:nvPr/>
        </p:nvSpPr>
        <p:spPr>
          <a:xfrm>
            <a:off x="822960" y="2148840"/>
            <a:ext cx="10515600" cy="137160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Retrieval-Augmented Generation (RAG) Application</a:t>
            </a:r>
            <a:endParaRPr lang="en-US" sz="4000" dirty="0"/>
          </a:p>
        </p:txBody>
      </p:sp>
      <p:sp>
        <p:nvSpPr>
          <p:cNvPr id="6" name="Text 4"/>
          <p:cNvSpPr/>
          <p:nvPr/>
        </p:nvSpPr>
        <p:spPr>
          <a:xfrm>
            <a:off x="822960" y="3520440"/>
            <a:ext cx="9692640" cy="54864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Built using LangChain, ChromaDB, Hugging Face Embeddings, OpenRouter LLM and Docker</a:t>
            </a:r>
            <a:endParaRPr lang="en-US" sz="1600" dirty="0"/>
          </a:p>
        </p:txBody>
      </p:sp>
      <p:sp>
        <p:nvSpPr>
          <p:cNvPr id="7" name="Shape 5"/>
          <p:cNvSpPr/>
          <p:nvPr/>
        </p:nvSpPr>
        <p:spPr>
          <a:xfrm>
            <a:off x="822960" y="4160520"/>
            <a:ext cx="502920" cy="54864"/>
          </a:xfrm>
          <a:prstGeom prst="rect">
            <a:avLst/>
          </a:prstGeom>
          <a:solidFill>
            <a:srgbClr val="4C6FFF"/>
          </a:solidFill>
          <a:ln/>
        </p:spPr>
      </p:sp>
      <p:sp>
        <p:nvSpPr>
          <p:cNvPr id="8" name="Text 6"/>
          <p:cNvSpPr/>
          <p:nvPr/>
        </p:nvSpPr>
        <p:spPr>
          <a:xfrm>
            <a:off x="822960" y="5120640"/>
            <a:ext cx="3657600" cy="27432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Presented by</a:t>
            </a:r>
            <a:endParaRPr lang="en-US" sz="1200" dirty="0"/>
          </a:p>
        </p:txBody>
      </p:sp>
      <p:sp>
        <p:nvSpPr>
          <p:cNvPr id="9" name="Text 7"/>
          <p:cNvSpPr/>
          <p:nvPr/>
        </p:nvSpPr>
        <p:spPr>
          <a:xfrm>
            <a:off x="822960" y="5394960"/>
            <a:ext cx="54864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Niti Mishra</a:t>
            </a:r>
            <a:endParaRPr lang="en-US" sz="2400" dirty="0"/>
          </a:p>
        </p:txBody>
      </p:sp>
      <p:sp>
        <p:nvSpPr>
          <p:cNvPr id="10" name="Text 8"/>
          <p:cNvSpPr/>
          <p:nvPr/>
        </p:nvSpPr>
        <p:spPr>
          <a:xfrm>
            <a:off x="822960" y="5897880"/>
            <a:ext cx="5486400" cy="3200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Batch 1 – Cloud Computing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Why plain LLMs are not enough on their own</a:t>
            </a:r>
            <a:endParaRPr lang="en-US" sz="1400" dirty="0"/>
          </a:p>
        </p:txBody>
      </p:sp>
      <p:sp>
        <p:nvSpPr>
          <p:cNvPr id="4" name="Shape 2"/>
          <p:cNvSpPr/>
          <p:nvPr/>
        </p:nvSpPr>
        <p:spPr>
          <a:xfrm>
            <a:off x="548640" y="1481328"/>
            <a:ext cx="502920" cy="54864"/>
          </a:xfrm>
          <a:prstGeom prst="rect">
            <a:avLst/>
          </a:prstGeom>
          <a:solidFill>
            <a:srgbClr val="4C6FFF"/>
          </a:solidFill>
          <a:ln/>
        </p:spPr>
      </p:sp>
      <p:sp>
        <p:nvSpPr>
          <p:cNvPr id="5" name="Shape 3"/>
          <p:cNvSpPr/>
          <p:nvPr/>
        </p:nvSpPr>
        <p:spPr>
          <a:xfrm>
            <a:off x="548640" y="1874520"/>
            <a:ext cx="11064240" cy="914400"/>
          </a:xfrm>
          <a:prstGeom prst="roundRect">
            <a:avLst>
              <a:gd name="adj" fmla="val 8000"/>
            </a:avLst>
          </a:prstGeom>
          <a:solidFill>
            <a:srgbClr val="FFFFFF"/>
          </a:solidFill>
          <a:ln/>
          <a:effectLst>
            <a:outerShdw sx="100000" sy="100000" kx="0" ky="0" algn="bl" rotWithShape="0" blurRad="76200" dist="25400" dir="5400000">
              <a:srgbClr val="1E2761">
                <a:alpha val="12000"/>
              </a:srgbClr>
            </a:outerShdw>
          </a:effectLst>
        </p:spPr>
      </p:sp>
      <p:sp>
        <p:nvSpPr>
          <p:cNvPr id="6" name="Shape 4"/>
          <p:cNvSpPr/>
          <p:nvPr/>
        </p:nvSpPr>
        <p:spPr>
          <a:xfrm>
            <a:off x="777240" y="2084832"/>
            <a:ext cx="493776" cy="493776"/>
          </a:xfrm>
          <a:prstGeom prst="ellipse">
            <a:avLst/>
          </a:prstGeom>
          <a:solidFill>
            <a:srgbClr val="4C6FFF"/>
          </a:solidFill>
          <a:ln/>
        </p:spPr>
      </p:sp>
      <p:sp>
        <p:nvSpPr>
          <p:cNvPr id="7" name="Text 5"/>
          <p:cNvSpPr/>
          <p:nvPr/>
        </p:nvSpPr>
        <p:spPr>
          <a:xfrm>
            <a:off x="777240" y="2084832"/>
            <a:ext cx="493776" cy="49377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508760" y="1929384"/>
            <a:ext cx="9784080"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Large Language Models are trained on fixed data</a:t>
            </a:r>
            <a:endParaRPr lang="en-US" sz="1450" dirty="0"/>
          </a:p>
        </p:txBody>
      </p:sp>
      <p:sp>
        <p:nvSpPr>
          <p:cNvPr id="9" name="Text 7"/>
          <p:cNvSpPr/>
          <p:nvPr/>
        </p:nvSpPr>
        <p:spPr>
          <a:xfrm>
            <a:off x="1508760" y="2221992"/>
            <a:ext cx="9784080" cy="457200"/>
          </a:xfrm>
          <a:prstGeom prst="rect">
            <a:avLst/>
          </a:prstGeom>
          <a:noFill/>
          <a:ln/>
        </p:spPr>
        <p:txBody>
          <a:bodyPr wrap="square" rtlCol="0" anchor="ctr"/>
          <a:lstStyle/>
          <a:p>
            <a:pPr indent="0" marL="0">
              <a:buNone/>
            </a:pPr>
            <a:r>
              <a:rPr lang="en-US" sz="1150" dirty="0">
                <a:solidFill>
                  <a:srgbClr val="5B6785"/>
                </a:solidFill>
                <a:latin typeface="Calibri" pitchFamily="34" charset="0"/>
                <a:ea typeface="Calibri" pitchFamily="34" charset="-122"/>
                <a:cs typeface="Calibri" pitchFamily="34" charset="-120"/>
              </a:rPr>
              <a:t>Their knowledge stops at a training cut-off date, so they do not know about new or private information.</a:t>
            </a:r>
            <a:endParaRPr lang="en-US" sz="1150" dirty="0"/>
          </a:p>
        </p:txBody>
      </p:sp>
      <p:sp>
        <p:nvSpPr>
          <p:cNvPr id="10" name="Shape 8"/>
          <p:cNvSpPr/>
          <p:nvPr/>
        </p:nvSpPr>
        <p:spPr>
          <a:xfrm>
            <a:off x="548640" y="2953512"/>
            <a:ext cx="11064240" cy="914400"/>
          </a:xfrm>
          <a:prstGeom prst="roundRect">
            <a:avLst>
              <a:gd name="adj" fmla="val 8000"/>
            </a:avLst>
          </a:prstGeom>
          <a:solidFill>
            <a:srgbClr val="FFFFFF"/>
          </a:solidFill>
          <a:ln/>
          <a:effectLst>
            <a:outerShdw sx="100000" sy="100000" kx="0" ky="0" algn="bl" rotWithShape="0" blurRad="76200" dist="25400" dir="5400000">
              <a:srgbClr val="1E2761">
                <a:alpha val="12000"/>
              </a:srgbClr>
            </a:outerShdw>
          </a:effectLst>
        </p:spPr>
      </p:sp>
      <p:sp>
        <p:nvSpPr>
          <p:cNvPr id="11" name="Shape 9"/>
          <p:cNvSpPr/>
          <p:nvPr/>
        </p:nvSpPr>
        <p:spPr>
          <a:xfrm>
            <a:off x="777240" y="3163824"/>
            <a:ext cx="493776" cy="493776"/>
          </a:xfrm>
          <a:prstGeom prst="ellipse">
            <a:avLst/>
          </a:prstGeom>
          <a:solidFill>
            <a:srgbClr val="4C6FFF"/>
          </a:solidFill>
          <a:ln/>
        </p:spPr>
      </p:sp>
      <p:sp>
        <p:nvSpPr>
          <p:cNvPr id="12" name="Text 10"/>
          <p:cNvSpPr/>
          <p:nvPr/>
        </p:nvSpPr>
        <p:spPr>
          <a:xfrm>
            <a:off x="777240" y="3163824"/>
            <a:ext cx="493776" cy="49377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508760" y="3008376"/>
            <a:ext cx="9784080"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Hallucination problem</a:t>
            </a:r>
            <a:endParaRPr lang="en-US" sz="1450" dirty="0"/>
          </a:p>
        </p:txBody>
      </p:sp>
      <p:sp>
        <p:nvSpPr>
          <p:cNvPr id="14" name="Text 12"/>
          <p:cNvSpPr/>
          <p:nvPr/>
        </p:nvSpPr>
        <p:spPr>
          <a:xfrm>
            <a:off x="1508760" y="3300984"/>
            <a:ext cx="9784080" cy="457200"/>
          </a:xfrm>
          <a:prstGeom prst="rect">
            <a:avLst/>
          </a:prstGeom>
          <a:noFill/>
          <a:ln/>
        </p:spPr>
        <p:txBody>
          <a:bodyPr wrap="square" rtlCol="0" anchor="ctr"/>
          <a:lstStyle/>
          <a:p>
            <a:pPr indent="0" marL="0">
              <a:buNone/>
            </a:pPr>
            <a:r>
              <a:rPr lang="en-US" sz="1150" dirty="0">
                <a:solidFill>
                  <a:srgbClr val="5B6785"/>
                </a:solidFill>
                <a:latin typeface="Calibri" pitchFamily="34" charset="0"/>
                <a:ea typeface="Calibri" pitchFamily="34" charset="-122"/>
                <a:cs typeface="Calibri" pitchFamily="34" charset="-120"/>
              </a:rPr>
              <a:t>LLMs can generate answers that sound confident but are factually incorrect, especially for topics outside their training data.</a:t>
            </a:r>
            <a:endParaRPr lang="en-US" sz="1150" dirty="0"/>
          </a:p>
        </p:txBody>
      </p:sp>
      <p:sp>
        <p:nvSpPr>
          <p:cNvPr id="15" name="Shape 13"/>
          <p:cNvSpPr/>
          <p:nvPr/>
        </p:nvSpPr>
        <p:spPr>
          <a:xfrm>
            <a:off x="548640" y="4032504"/>
            <a:ext cx="11064240" cy="914400"/>
          </a:xfrm>
          <a:prstGeom prst="roundRect">
            <a:avLst>
              <a:gd name="adj" fmla="val 8000"/>
            </a:avLst>
          </a:prstGeom>
          <a:solidFill>
            <a:srgbClr val="FFFFFF"/>
          </a:solidFill>
          <a:ln/>
          <a:effectLst>
            <a:outerShdw sx="100000" sy="100000" kx="0" ky="0" algn="bl" rotWithShape="0" blurRad="76200" dist="25400" dir="5400000">
              <a:srgbClr val="1E2761">
                <a:alpha val="12000"/>
              </a:srgbClr>
            </a:outerShdw>
          </a:effectLst>
        </p:spPr>
      </p:sp>
      <p:sp>
        <p:nvSpPr>
          <p:cNvPr id="16" name="Shape 14"/>
          <p:cNvSpPr/>
          <p:nvPr/>
        </p:nvSpPr>
        <p:spPr>
          <a:xfrm>
            <a:off x="777240" y="4242816"/>
            <a:ext cx="493776" cy="493776"/>
          </a:xfrm>
          <a:prstGeom prst="ellipse">
            <a:avLst/>
          </a:prstGeom>
          <a:solidFill>
            <a:srgbClr val="4C6FFF"/>
          </a:solidFill>
          <a:ln/>
        </p:spPr>
      </p:sp>
      <p:sp>
        <p:nvSpPr>
          <p:cNvPr id="17" name="Text 15"/>
          <p:cNvSpPr/>
          <p:nvPr/>
        </p:nvSpPr>
        <p:spPr>
          <a:xfrm>
            <a:off x="777240" y="4242816"/>
            <a:ext cx="493776" cy="49377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508760" y="4087368"/>
            <a:ext cx="9784080"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No access to private or domain-specific documents</a:t>
            </a:r>
            <a:endParaRPr lang="en-US" sz="1450" dirty="0"/>
          </a:p>
        </p:txBody>
      </p:sp>
      <p:sp>
        <p:nvSpPr>
          <p:cNvPr id="19" name="Text 17"/>
          <p:cNvSpPr/>
          <p:nvPr/>
        </p:nvSpPr>
        <p:spPr>
          <a:xfrm>
            <a:off x="1508760" y="4379976"/>
            <a:ext cx="9784080" cy="457200"/>
          </a:xfrm>
          <a:prstGeom prst="rect">
            <a:avLst/>
          </a:prstGeom>
          <a:noFill/>
          <a:ln/>
        </p:spPr>
        <p:txBody>
          <a:bodyPr wrap="square" rtlCol="0" anchor="ctr"/>
          <a:lstStyle/>
          <a:p>
            <a:pPr indent="0" marL="0">
              <a:buNone/>
            </a:pPr>
            <a:r>
              <a:rPr lang="en-US" sz="1150" dirty="0">
                <a:solidFill>
                  <a:srgbClr val="5B6785"/>
                </a:solidFill>
                <a:latin typeface="Calibri" pitchFamily="34" charset="0"/>
                <a:ea typeface="Calibri" pitchFamily="34" charset="-122"/>
                <a:cs typeface="Calibri" pitchFamily="34" charset="-120"/>
              </a:rPr>
              <a:t>A general-purpose LLM cannot answer questions about a company's internal files, notes, or documents unless that data is provided to it.</a:t>
            </a:r>
            <a:endParaRPr lang="en-US" sz="1150" dirty="0"/>
          </a:p>
        </p:txBody>
      </p:sp>
      <p:sp>
        <p:nvSpPr>
          <p:cNvPr id="20" name="Shape 18"/>
          <p:cNvSpPr/>
          <p:nvPr/>
        </p:nvSpPr>
        <p:spPr>
          <a:xfrm>
            <a:off x="548640" y="5111496"/>
            <a:ext cx="11064240" cy="914400"/>
          </a:xfrm>
          <a:prstGeom prst="roundRect">
            <a:avLst>
              <a:gd name="adj" fmla="val 8000"/>
            </a:avLst>
          </a:prstGeom>
          <a:solidFill>
            <a:srgbClr val="FFFFFF"/>
          </a:solidFill>
          <a:ln/>
          <a:effectLst>
            <a:outerShdw sx="100000" sy="100000" kx="0" ky="0" algn="bl" rotWithShape="0" blurRad="76200" dist="25400" dir="5400000">
              <a:srgbClr val="1E2761">
                <a:alpha val="12000"/>
              </a:srgbClr>
            </a:outerShdw>
          </a:effectLst>
        </p:spPr>
      </p:sp>
      <p:sp>
        <p:nvSpPr>
          <p:cNvPr id="21" name="Shape 19"/>
          <p:cNvSpPr/>
          <p:nvPr/>
        </p:nvSpPr>
        <p:spPr>
          <a:xfrm>
            <a:off x="777240" y="5321808"/>
            <a:ext cx="493776" cy="493776"/>
          </a:xfrm>
          <a:prstGeom prst="ellipse">
            <a:avLst/>
          </a:prstGeom>
          <a:solidFill>
            <a:srgbClr val="4C6FFF"/>
          </a:solidFill>
          <a:ln/>
        </p:spPr>
      </p:sp>
      <p:sp>
        <p:nvSpPr>
          <p:cNvPr id="22" name="Text 20"/>
          <p:cNvSpPr/>
          <p:nvPr/>
        </p:nvSpPr>
        <p:spPr>
          <a:xfrm>
            <a:off x="777240" y="5321808"/>
            <a:ext cx="493776" cy="49377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508760" y="5166360"/>
            <a:ext cx="9784080"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Need for Retrieval-Augmented Generation (RAG)</a:t>
            </a:r>
            <a:endParaRPr lang="en-US" sz="1450" dirty="0"/>
          </a:p>
        </p:txBody>
      </p:sp>
      <p:sp>
        <p:nvSpPr>
          <p:cNvPr id="24" name="Text 22"/>
          <p:cNvSpPr/>
          <p:nvPr/>
        </p:nvSpPr>
        <p:spPr>
          <a:xfrm>
            <a:off x="1508760" y="5458968"/>
            <a:ext cx="9784080" cy="457200"/>
          </a:xfrm>
          <a:prstGeom prst="rect">
            <a:avLst/>
          </a:prstGeom>
          <a:noFill/>
          <a:ln/>
        </p:spPr>
        <p:txBody>
          <a:bodyPr wrap="square" rtlCol="0" anchor="ctr"/>
          <a:lstStyle/>
          <a:p>
            <a:pPr indent="0" marL="0">
              <a:buNone/>
            </a:pPr>
            <a:r>
              <a:rPr lang="en-US" sz="1150" dirty="0">
                <a:solidFill>
                  <a:srgbClr val="5B6785"/>
                </a:solidFill>
                <a:latin typeface="Calibri" pitchFamily="34" charset="0"/>
                <a:ea typeface="Calibri" pitchFamily="34" charset="-122"/>
                <a:cs typeface="Calibri" pitchFamily="34" charset="-120"/>
              </a:rPr>
              <a:t>RAG solves this by retrieving relevant information from a document store and giving it to the LLM as context before generating an answer.</a:t>
            </a:r>
            <a:endParaRPr lang="en-US" sz="1150" dirty="0"/>
          </a:p>
        </p:txBody>
      </p:sp>
      <p:sp>
        <p:nvSpPr>
          <p:cNvPr id="25" name="Text 23"/>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26" name="Text 24"/>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Project Objectives</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What this project sets out to achieve</a:t>
            </a:r>
            <a:endParaRPr lang="en-US" sz="1400" dirty="0"/>
          </a:p>
        </p:txBody>
      </p:sp>
      <p:sp>
        <p:nvSpPr>
          <p:cNvPr id="4" name="Shape 2"/>
          <p:cNvSpPr/>
          <p:nvPr/>
        </p:nvSpPr>
        <p:spPr>
          <a:xfrm>
            <a:off x="548640" y="1481328"/>
            <a:ext cx="502920" cy="54864"/>
          </a:xfrm>
          <a:prstGeom prst="rect">
            <a:avLst/>
          </a:prstGeom>
          <a:solidFill>
            <a:srgbClr val="4C6FFF"/>
          </a:solidFill>
          <a:ln/>
        </p:spPr>
      </p:sp>
      <p:sp>
        <p:nvSpPr>
          <p:cNvPr id="5" name="Shape 3"/>
          <p:cNvSpPr/>
          <p:nvPr/>
        </p:nvSpPr>
        <p:spPr>
          <a:xfrm>
            <a:off x="548640" y="1965960"/>
            <a:ext cx="3538728" cy="1965960"/>
          </a:xfrm>
          <a:prstGeom prst="roundRect">
            <a:avLst>
              <a:gd name="adj" fmla="val 4186"/>
            </a:avLst>
          </a:prstGeom>
          <a:solidFill>
            <a:srgbClr val="FFFFFF"/>
          </a:solidFill>
          <a:ln/>
          <a:effectLst>
            <a:outerShdw sx="100000" sy="100000" kx="0" ky="0" algn="bl" rotWithShape="0" blurRad="76200" dist="25400" dir="5400000">
              <a:srgbClr val="1E2761">
                <a:alpha val="12000"/>
              </a:srgbClr>
            </a:outerShdw>
          </a:effectLst>
        </p:spPr>
      </p:sp>
      <p:sp>
        <p:nvSpPr>
          <p:cNvPr id="6" name="Shape 4"/>
          <p:cNvSpPr/>
          <p:nvPr/>
        </p:nvSpPr>
        <p:spPr>
          <a:xfrm>
            <a:off x="777240" y="2194560"/>
            <a:ext cx="457200" cy="457200"/>
          </a:xfrm>
          <a:prstGeom prst="ellipse">
            <a:avLst/>
          </a:prstGeom>
          <a:solidFill>
            <a:srgbClr val="4C6FFF"/>
          </a:solidFill>
          <a:ln/>
        </p:spPr>
      </p:sp>
      <p:sp>
        <p:nvSpPr>
          <p:cNvPr id="7" name="Text 5"/>
          <p:cNvSpPr/>
          <p:nvPr/>
        </p:nvSpPr>
        <p:spPr>
          <a:xfrm>
            <a:off x="777240" y="2194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777240" y="2788920"/>
            <a:ext cx="3081528"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Build a local RAG pipeline</a:t>
            </a:r>
            <a:endParaRPr lang="en-US" sz="1350" dirty="0"/>
          </a:p>
        </p:txBody>
      </p:sp>
      <p:sp>
        <p:nvSpPr>
          <p:cNvPr id="9" name="Text 7"/>
          <p:cNvSpPr/>
          <p:nvPr/>
        </p:nvSpPr>
        <p:spPr>
          <a:xfrm>
            <a:off x="777240" y="3200400"/>
            <a:ext cx="3081528" cy="640080"/>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Design an end-to-end retrieval-augmented generation pipeline that runs on a local setup.</a:t>
            </a:r>
            <a:endParaRPr lang="en-US" sz="1050" dirty="0"/>
          </a:p>
        </p:txBody>
      </p:sp>
      <p:sp>
        <p:nvSpPr>
          <p:cNvPr id="10" name="Shape 8"/>
          <p:cNvSpPr/>
          <p:nvPr/>
        </p:nvSpPr>
        <p:spPr>
          <a:xfrm>
            <a:off x="4343400" y="1965960"/>
            <a:ext cx="3538728" cy="1965960"/>
          </a:xfrm>
          <a:prstGeom prst="roundRect">
            <a:avLst>
              <a:gd name="adj" fmla="val 4186"/>
            </a:avLst>
          </a:prstGeom>
          <a:solidFill>
            <a:srgbClr val="FFFFFF"/>
          </a:solidFill>
          <a:ln/>
          <a:effectLst>
            <a:outerShdw sx="100000" sy="100000" kx="0" ky="0" algn="bl" rotWithShape="0" blurRad="76200" dist="25400" dir="5400000">
              <a:srgbClr val="1E2761">
                <a:alpha val="12000"/>
              </a:srgbClr>
            </a:outerShdw>
          </a:effectLst>
        </p:spPr>
      </p:sp>
      <p:sp>
        <p:nvSpPr>
          <p:cNvPr id="11" name="Shape 9"/>
          <p:cNvSpPr/>
          <p:nvPr/>
        </p:nvSpPr>
        <p:spPr>
          <a:xfrm>
            <a:off x="4572000" y="2194560"/>
            <a:ext cx="457200" cy="457200"/>
          </a:xfrm>
          <a:prstGeom prst="ellipse">
            <a:avLst/>
          </a:prstGeom>
          <a:solidFill>
            <a:srgbClr val="4C6FFF"/>
          </a:solidFill>
          <a:ln/>
        </p:spPr>
      </p:sp>
      <p:sp>
        <p:nvSpPr>
          <p:cNvPr id="12" name="Text 10"/>
          <p:cNvSpPr/>
          <p:nvPr/>
        </p:nvSpPr>
        <p:spPr>
          <a:xfrm>
            <a:off x="4572000" y="2194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4572000" y="2788920"/>
            <a:ext cx="3081528"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Retrieve relevant documents</a:t>
            </a:r>
            <a:endParaRPr lang="en-US" sz="1350" dirty="0"/>
          </a:p>
        </p:txBody>
      </p:sp>
      <p:sp>
        <p:nvSpPr>
          <p:cNvPr id="14" name="Text 12"/>
          <p:cNvSpPr/>
          <p:nvPr/>
        </p:nvSpPr>
        <p:spPr>
          <a:xfrm>
            <a:off x="4572000" y="3200400"/>
            <a:ext cx="3081528" cy="640080"/>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Fetch the most relevant document chunks for a user's query using vector similarity search.</a:t>
            </a:r>
            <a:endParaRPr lang="en-US" sz="1050" dirty="0"/>
          </a:p>
        </p:txBody>
      </p:sp>
      <p:sp>
        <p:nvSpPr>
          <p:cNvPr id="15" name="Shape 13"/>
          <p:cNvSpPr/>
          <p:nvPr/>
        </p:nvSpPr>
        <p:spPr>
          <a:xfrm>
            <a:off x="8138160" y="1965960"/>
            <a:ext cx="3538728" cy="1965960"/>
          </a:xfrm>
          <a:prstGeom prst="roundRect">
            <a:avLst>
              <a:gd name="adj" fmla="val 4186"/>
            </a:avLst>
          </a:prstGeom>
          <a:solidFill>
            <a:srgbClr val="FFFFFF"/>
          </a:solidFill>
          <a:ln/>
          <a:effectLst>
            <a:outerShdw sx="100000" sy="100000" kx="0" ky="0" algn="bl" rotWithShape="0" blurRad="76200" dist="25400" dir="5400000">
              <a:srgbClr val="1E2761">
                <a:alpha val="12000"/>
              </a:srgbClr>
            </a:outerShdw>
          </a:effectLst>
        </p:spPr>
      </p:sp>
      <p:sp>
        <p:nvSpPr>
          <p:cNvPr id="16" name="Shape 14"/>
          <p:cNvSpPr/>
          <p:nvPr/>
        </p:nvSpPr>
        <p:spPr>
          <a:xfrm>
            <a:off x="8366760" y="2194560"/>
            <a:ext cx="457200" cy="457200"/>
          </a:xfrm>
          <a:prstGeom prst="ellipse">
            <a:avLst/>
          </a:prstGeom>
          <a:solidFill>
            <a:srgbClr val="4C6FFF"/>
          </a:solidFill>
          <a:ln/>
        </p:spPr>
      </p:sp>
      <p:sp>
        <p:nvSpPr>
          <p:cNvPr id="17" name="Text 15"/>
          <p:cNvSpPr/>
          <p:nvPr/>
        </p:nvSpPr>
        <p:spPr>
          <a:xfrm>
            <a:off x="8366760" y="2194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8366760" y="2788920"/>
            <a:ext cx="3081528"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Generate context-aware answers</a:t>
            </a:r>
            <a:endParaRPr lang="en-US" sz="1350" dirty="0"/>
          </a:p>
        </p:txBody>
      </p:sp>
      <p:sp>
        <p:nvSpPr>
          <p:cNvPr id="19" name="Text 17"/>
          <p:cNvSpPr/>
          <p:nvPr/>
        </p:nvSpPr>
        <p:spPr>
          <a:xfrm>
            <a:off x="8366760" y="3200400"/>
            <a:ext cx="3081528" cy="640080"/>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Use the retrieved context along with the query so the LLM gives grounded, accurate answers.</a:t>
            </a:r>
            <a:endParaRPr lang="en-US" sz="1050" dirty="0"/>
          </a:p>
        </p:txBody>
      </p:sp>
      <p:sp>
        <p:nvSpPr>
          <p:cNvPr id="20" name="Shape 18"/>
          <p:cNvSpPr/>
          <p:nvPr/>
        </p:nvSpPr>
        <p:spPr>
          <a:xfrm>
            <a:off x="548640" y="4251960"/>
            <a:ext cx="3538728" cy="1965960"/>
          </a:xfrm>
          <a:prstGeom prst="roundRect">
            <a:avLst>
              <a:gd name="adj" fmla="val 4186"/>
            </a:avLst>
          </a:prstGeom>
          <a:solidFill>
            <a:srgbClr val="FFFFFF"/>
          </a:solidFill>
          <a:ln/>
          <a:effectLst>
            <a:outerShdw sx="100000" sy="100000" kx="0" ky="0" algn="bl" rotWithShape="0" blurRad="76200" dist="25400" dir="5400000">
              <a:srgbClr val="1E2761">
                <a:alpha val="12000"/>
              </a:srgbClr>
            </a:outerShdw>
          </a:effectLst>
        </p:spPr>
      </p:sp>
      <p:sp>
        <p:nvSpPr>
          <p:cNvPr id="21" name="Shape 19"/>
          <p:cNvSpPr/>
          <p:nvPr/>
        </p:nvSpPr>
        <p:spPr>
          <a:xfrm>
            <a:off x="777240" y="4480560"/>
            <a:ext cx="457200" cy="457200"/>
          </a:xfrm>
          <a:prstGeom prst="ellipse">
            <a:avLst/>
          </a:prstGeom>
          <a:solidFill>
            <a:srgbClr val="4C6FFF"/>
          </a:solidFill>
          <a:ln/>
        </p:spPr>
      </p:sp>
      <p:sp>
        <p:nvSpPr>
          <p:cNvPr id="22" name="Text 20"/>
          <p:cNvSpPr/>
          <p:nvPr/>
        </p:nvSpPr>
        <p:spPr>
          <a:xfrm>
            <a:off x="777240" y="4480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777240" y="5074920"/>
            <a:ext cx="3081528"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Support conversation history</a:t>
            </a:r>
            <a:endParaRPr lang="en-US" sz="1350" dirty="0"/>
          </a:p>
        </p:txBody>
      </p:sp>
      <p:sp>
        <p:nvSpPr>
          <p:cNvPr id="24" name="Text 22"/>
          <p:cNvSpPr/>
          <p:nvPr/>
        </p:nvSpPr>
        <p:spPr>
          <a:xfrm>
            <a:off x="777240" y="5486400"/>
            <a:ext cx="3081528" cy="640080"/>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Allow follow-up questions by reformulating queries based on earlier chat history.</a:t>
            </a:r>
            <a:endParaRPr lang="en-US" sz="1050" dirty="0"/>
          </a:p>
        </p:txBody>
      </p:sp>
      <p:sp>
        <p:nvSpPr>
          <p:cNvPr id="25" name="Shape 23"/>
          <p:cNvSpPr/>
          <p:nvPr/>
        </p:nvSpPr>
        <p:spPr>
          <a:xfrm>
            <a:off x="4343400" y="4251960"/>
            <a:ext cx="3538728" cy="1965960"/>
          </a:xfrm>
          <a:prstGeom prst="roundRect">
            <a:avLst>
              <a:gd name="adj" fmla="val 4186"/>
            </a:avLst>
          </a:prstGeom>
          <a:solidFill>
            <a:srgbClr val="FFFFFF"/>
          </a:solidFill>
          <a:ln/>
          <a:effectLst>
            <a:outerShdw sx="100000" sy="100000" kx="0" ky="0" algn="bl" rotWithShape="0" blurRad="76200" dist="25400" dir="5400000">
              <a:srgbClr val="1E2761">
                <a:alpha val="12000"/>
              </a:srgbClr>
            </a:outerShdw>
          </a:effectLst>
        </p:spPr>
      </p:sp>
      <p:sp>
        <p:nvSpPr>
          <p:cNvPr id="26" name="Shape 24"/>
          <p:cNvSpPr/>
          <p:nvPr/>
        </p:nvSpPr>
        <p:spPr>
          <a:xfrm>
            <a:off x="4572000" y="4480560"/>
            <a:ext cx="457200" cy="457200"/>
          </a:xfrm>
          <a:prstGeom prst="ellipse">
            <a:avLst/>
          </a:prstGeom>
          <a:solidFill>
            <a:srgbClr val="4C6FFF"/>
          </a:solidFill>
          <a:ln/>
        </p:spPr>
      </p:sp>
      <p:sp>
        <p:nvSpPr>
          <p:cNvPr id="27" name="Text 25"/>
          <p:cNvSpPr/>
          <p:nvPr/>
        </p:nvSpPr>
        <p:spPr>
          <a:xfrm>
            <a:off x="4572000" y="4480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4572000" y="5074920"/>
            <a:ext cx="3081528"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Secure API key management</a:t>
            </a:r>
            <a:endParaRPr lang="en-US" sz="1350" dirty="0"/>
          </a:p>
        </p:txBody>
      </p:sp>
      <p:sp>
        <p:nvSpPr>
          <p:cNvPr id="29" name="Text 27"/>
          <p:cNvSpPr/>
          <p:nvPr/>
        </p:nvSpPr>
        <p:spPr>
          <a:xfrm>
            <a:off x="4572000" y="5486400"/>
            <a:ext cx="3081528" cy="640080"/>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Keep API keys and secrets outside the source code using environment variables.</a:t>
            </a:r>
            <a:endParaRPr lang="en-US" sz="1050" dirty="0"/>
          </a:p>
        </p:txBody>
      </p:sp>
      <p:sp>
        <p:nvSpPr>
          <p:cNvPr id="30" name="Text 28"/>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31" name="Text 29"/>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System Architecture</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How a user query becomes a grounded answer</a:t>
            </a:r>
            <a:endParaRPr lang="en-US" sz="1400" dirty="0"/>
          </a:p>
        </p:txBody>
      </p:sp>
      <p:sp>
        <p:nvSpPr>
          <p:cNvPr id="4" name="Shape 2"/>
          <p:cNvSpPr/>
          <p:nvPr/>
        </p:nvSpPr>
        <p:spPr>
          <a:xfrm>
            <a:off x="548640" y="1481328"/>
            <a:ext cx="502920" cy="54864"/>
          </a:xfrm>
          <a:prstGeom prst="rect">
            <a:avLst/>
          </a:prstGeom>
          <a:solidFill>
            <a:srgbClr val="4C6FFF"/>
          </a:solidFill>
          <a:ln/>
        </p:spPr>
      </p:sp>
      <p:sp>
        <p:nvSpPr>
          <p:cNvPr id="5" name="Shape 3"/>
          <p:cNvSpPr/>
          <p:nvPr/>
        </p:nvSpPr>
        <p:spPr>
          <a:xfrm>
            <a:off x="548640" y="1847088"/>
            <a:ext cx="11064240" cy="566928"/>
          </a:xfrm>
          <a:prstGeom prst="roundRect">
            <a:avLst>
              <a:gd name="adj" fmla="val 11290"/>
            </a:avLst>
          </a:prstGeom>
          <a:solidFill>
            <a:srgbClr val="FFFFFF"/>
          </a:solidFill>
          <a:ln w="12700">
            <a:solidFill>
              <a:srgbClr val="CADCFC"/>
            </a:solidFill>
            <a:prstDash val="solid"/>
          </a:ln>
          <a:effectLst>
            <a:outerShdw sx="100000" sy="100000" kx="0" ky="0" algn="bl" rotWithShape="0" blurRad="63500" dist="25400" dir="5400000">
              <a:srgbClr val="1E2761">
                <a:alpha val="10000"/>
              </a:srgbClr>
            </a:outerShdw>
          </a:effectLst>
        </p:spPr>
      </p:sp>
      <p:sp>
        <p:nvSpPr>
          <p:cNvPr id="6" name="Shape 4"/>
          <p:cNvSpPr/>
          <p:nvPr/>
        </p:nvSpPr>
        <p:spPr>
          <a:xfrm>
            <a:off x="658368" y="1956816"/>
            <a:ext cx="347472" cy="347472"/>
          </a:xfrm>
          <a:prstGeom prst="ellipse">
            <a:avLst/>
          </a:prstGeom>
          <a:solidFill>
            <a:srgbClr val="4C6FFF"/>
          </a:solidFill>
          <a:ln/>
        </p:spPr>
      </p:sp>
      <p:sp>
        <p:nvSpPr>
          <p:cNvPr id="7" name="Text 5"/>
          <p:cNvSpPr/>
          <p:nvPr/>
        </p:nvSpPr>
        <p:spPr>
          <a:xfrm>
            <a:off x="658368" y="1956816"/>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43000" y="1847088"/>
            <a:ext cx="3291840" cy="56692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User Query</a:t>
            </a:r>
            <a:endParaRPr lang="en-US" sz="1250" dirty="0"/>
          </a:p>
        </p:txBody>
      </p:sp>
      <p:sp>
        <p:nvSpPr>
          <p:cNvPr id="9" name="Text 7"/>
          <p:cNvSpPr/>
          <p:nvPr/>
        </p:nvSpPr>
        <p:spPr>
          <a:xfrm>
            <a:off x="4526280" y="1847088"/>
            <a:ext cx="6903720" cy="566928"/>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The user types a question into the application.</a:t>
            </a:r>
            <a:endParaRPr lang="en-US" sz="1050" dirty="0"/>
          </a:p>
        </p:txBody>
      </p:sp>
      <p:sp>
        <p:nvSpPr>
          <p:cNvPr id="10" name="Text 8"/>
          <p:cNvSpPr/>
          <p:nvPr/>
        </p:nvSpPr>
        <p:spPr>
          <a:xfrm>
            <a:off x="5897880" y="2395728"/>
            <a:ext cx="365760" cy="164592"/>
          </a:xfrm>
          <a:prstGeom prst="rect">
            <a:avLst/>
          </a:prstGeom>
          <a:noFill/>
          <a:ln/>
        </p:spPr>
        <p:txBody>
          <a:bodyPr wrap="square" rtlCol="0" anchor="ctr"/>
          <a:lstStyle/>
          <a:p>
            <a:pPr algn="ctr" indent="0" marL="0">
              <a:buNone/>
            </a:pPr>
            <a:r>
              <a:rPr lang="en-US" sz="1300" b="1" dirty="0">
                <a:solidFill>
                  <a:srgbClr val="4C6FFF"/>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548640" y="2592324"/>
            <a:ext cx="11064240" cy="566928"/>
          </a:xfrm>
          <a:prstGeom prst="roundRect">
            <a:avLst>
              <a:gd name="adj" fmla="val 11290"/>
            </a:avLst>
          </a:prstGeom>
          <a:solidFill>
            <a:srgbClr val="FFFFFF"/>
          </a:solidFill>
          <a:ln w="12700">
            <a:solidFill>
              <a:srgbClr val="CADCFC"/>
            </a:solidFill>
            <a:prstDash val="solid"/>
          </a:ln>
          <a:effectLst>
            <a:outerShdw sx="100000" sy="100000" kx="0" ky="0" algn="bl" rotWithShape="0" blurRad="63500" dist="25400" dir="5400000">
              <a:srgbClr val="1E2761">
                <a:alpha val="10000"/>
              </a:srgbClr>
            </a:outerShdw>
          </a:effectLst>
        </p:spPr>
      </p:sp>
      <p:sp>
        <p:nvSpPr>
          <p:cNvPr id="12" name="Shape 10"/>
          <p:cNvSpPr/>
          <p:nvPr/>
        </p:nvSpPr>
        <p:spPr>
          <a:xfrm>
            <a:off x="658368" y="2702052"/>
            <a:ext cx="347472" cy="347472"/>
          </a:xfrm>
          <a:prstGeom prst="ellipse">
            <a:avLst/>
          </a:prstGeom>
          <a:solidFill>
            <a:srgbClr val="4C6FFF"/>
          </a:solidFill>
          <a:ln/>
        </p:spPr>
      </p:sp>
      <p:sp>
        <p:nvSpPr>
          <p:cNvPr id="13" name="Text 11"/>
          <p:cNvSpPr/>
          <p:nvPr/>
        </p:nvSpPr>
        <p:spPr>
          <a:xfrm>
            <a:off x="658368" y="2702052"/>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143000" y="2592324"/>
            <a:ext cx="3291840" cy="56692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History-Aware Question Generation</a:t>
            </a:r>
            <a:endParaRPr lang="en-US" sz="1250" dirty="0"/>
          </a:p>
        </p:txBody>
      </p:sp>
      <p:sp>
        <p:nvSpPr>
          <p:cNvPr id="15" name="Text 13"/>
          <p:cNvSpPr/>
          <p:nvPr/>
        </p:nvSpPr>
        <p:spPr>
          <a:xfrm>
            <a:off x="4526280" y="2592324"/>
            <a:ext cx="6903720" cy="566928"/>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The LLM rewrites the query using chat history so follow-up questions stay clear on their own.</a:t>
            </a:r>
            <a:endParaRPr lang="en-US" sz="1050" dirty="0"/>
          </a:p>
        </p:txBody>
      </p:sp>
      <p:sp>
        <p:nvSpPr>
          <p:cNvPr id="16" name="Text 14"/>
          <p:cNvSpPr/>
          <p:nvPr/>
        </p:nvSpPr>
        <p:spPr>
          <a:xfrm>
            <a:off x="5897880" y="3140964"/>
            <a:ext cx="365760" cy="164592"/>
          </a:xfrm>
          <a:prstGeom prst="rect">
            <a:avLst/>
          </a:prstGeom>
          <a:noFill/>
          <a:ln/>
        </p:spPr>
        <p:txBody>
          <a:bodyPr wrap="square" rtlCol="0" anchor="ctr"/>
          <a:lstStyle/>
          <a:p>
            <a:pPr algn="ctr" indent="0" marL="0">
              <a:buNone/>
            </a:pPr>
            <a:r>
              <a:rPr lang="en-US" sz="1300" b="1" dirty="0">
                <a:solidFill>
                  <a:srgbClr val="4C6FFF"/>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548640" y="3337560"/>
            <a:ext cx="11064240" cy="566928"/>
          </a:xfrm>
          <a:prstGeom prst="roundRect">
            <a:avLst>
              <a:gd name="adj" fmla="val 11290"/>
            </a:avLst>
          </a:prstGeom>
          <a:solidFill>
            <a:srgbClr val="FFFFFF"/>
          </a:solidFill>
          <a:ln w="12700">
            <a:solidFill>
              <a:srgbClr val="CADCFC"/>
            </a:solidFill>
            <a:prstDash val="solid"/>
          </a:ln>
          <a:effectLst>
            <a:outerShdw sx="100000" sy="100000" kx="0" ky="0" algn="bl" rotWithShape="0" blurRad="63500" dist="25400" dir="5400000">
              <a:srgbClr val="1E2761">
                <a:alpha val="10000"/>
              </a:srgbClr>
            </a:outerShdw>
          </a:effectLst>
        </p:spPr>
      </p:sp>
      <p:sp>
        <p:nvSpPr>
          <p:cNvPr id="18" name="Shape 16"/>
          <p:cNvSpPr/>
          <p:nvPr/>
        </p:nvSpPr>
        <p:spPr>
          <a:xfrm>
            <a:off x="658368" y="3447288"/>
            <a:ext cx="347472" cy="347472"/>
          </a:xfrm>
          <a:prstGeom prst="ellipse">
            <a:avLst/>
          </a:prstGeom>
          <a:solidFill>
            <a:srgbClr val="4C6FFF"/>
          </a:solidFill>
          <a:ln/>
        </p:spPr>
      </p:sp>
      <p:sp>
        <p:nvSpPr>
          <p:cNvPr id="19" name="Text 17"/>
          <p:cNvSpPr/>
          <p:nvPr/>
        </p:nvSpPr>
        <p:spPr>
          <a:xfrm>
            <a:off x="658368" y="3447288"/>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143000" y="3337560"/>
            <a:ext cx="3291840" cy="56692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Retriever (ChromaDB)</a:t>
            </a:r>
            <a:endParaRPr lang="en-US" sz="1250" dirty="0"/>
          </a:p>
        </p:txBody>
      </p:sp>
      <p:sp>
        <p:nvSpPr>
          <p:cNvPr id="21" name="Text 19"/>
          <p:cNvSpPr/>
          <p:nvPr/>
        </p:nvSpPr>
        <p:spPr>
          <a:xfrm>
            <a:off x="4526280" y="3337560"/>
            <a:ext cx="6903720" cy="566928"/>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The rewritten query is converted to an embedding and matched against stored document vectors.</a:t>
            </a:r>
            <a:endParaRPr lang="en-US" sz="1050" dirty="0"/>
          </a:p>
        </p:txBody>
      </p:sp>
      <p:sp>
        <p:nvSpPr>
          <p:cNvPr id="22" name="Text 20"/>
          <p:cNvSpPr/>
          <p:nvPr/>
        </p:nvSpPr>
        <p:spPr>
          <a:xfrm>
            <a:off x="5897880" y="3886200"/>
            <a:ext cx="365760" cy="164592"/>
          </a:xfrm>
          <a:prstGeom prst="rect">
            <a:avLst/>
          </a:prstGeom>
          <a:noFill/>
          <a:ln/>
        </p:spPr>
        <p:txBody>
          <a:bodyPr wrap="square" rtlCol="0" anchor="ctr"/>
          <a:lstStyle/>
          <a:p>
            <a:pPr algn="ctr" indent="0" marL="0">
              <a:buNone/>
            </a:pPr>
            <a:r>
              <a:rPr lang="en-US" sz="1300" b="1" dirty="0">
                <a:solidFill>
                  <a:srgbClr val="4C6FFF"/>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548640" y="4082796"/>
            <a:ext cx="11064240" cy="566928"/>
          </a:xfrm>
          <a:prstGeom prst="roundRect">
            <a:avLst>
              <a:gd name="adj" fmla="val 11290"/>
            </a:avLst>
          </a:prstGeom>
          <a:solidFill>
            <a:srgbClr val="FFFFFF"/>
          </a:solidFill>
          <a:ln w="12700">
            <a:solidFill>
              <a:srgbClr val="CADCFC"/>
            </a:solidFill>
            <a:prstDash val="solid"/>
          </a:ln>
          <a:effectLst>
            <a:outerShdw sx="100000" sy="100000" kx="0" ky="0" algn="bl" rotWithShape="0" blurRad="63500" dist="25400" dir="5400000">
              <a:srgbClr val="1E2761">
                <a:alpha val="10000"/>
              </a:srgbClr>
            </a:outerShdw>
          </a:effectLst>
        </p:spPr>
      </p:sp>
      <p:sp>
        <p:nvSpPr>
          <p:cNvPr id="24" name="Shape 22"/>
          <p:cNvSpPr/>
          <p:nvPr/>
        </p:nvSpPr>
        <p:spPr>
          <a:xfrm>
            <a:off x="658368" y="4192524"/>
            <a:ext cx="347472" cy="347472"/>
          </a:xfrm>
          <a:prstGeom prst="ellipse">
            <a:avLst/>
          </a:prstGeom>
          <a:solidFill>
            <a:srgbClr val="4C6FFF"/>
          </a:solidFill>
          <a:ln/>
        </p:spPr>
      </p:sp>
      <p:sp>
        <p:nvSpPr>
          <p:cNvPr id="25" name="Text 23"/>
          <p:cNvSpPr/>
          <p:nvPr/>
        </p:nvSpPr>
        <p:spPr>
          <a:xfrm>
            <a:off x="658368" y="4192524"/>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1143000" y="4082796"/>
            <a:ext cx="3291840" cy="56692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Relevant Documents</a:t>
            </a:r>
            <a:endParaRPr lang="en-US" sz="1250" dirty="0"/>
          </a:p>
        </p:txBody>
      </p:sp>
      <p:sp>
        <p:nvSpPr>
          <p:cNvPr id="27" name="Text 25"/>
          <p:cNvSpPr/>
          <p:nvPr/>
        </p:nvSpPr>
        <p:spPr>
          <a:xfrm>
            <a:off x="4526280" y="4082796"/>
            <a:ext cx="6903720" cy="566928"/>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The most similar document chunks are pulled out as supporting context.</a:t>
            </a:r>
            <a:endParaRPr lang="en-US" sz="1050" dirty="0"/>
          </a:p>
        </p:txBody>
      </p:sp>
      <p:sp>
        <p:nvSpPr>
          <p:cNvPr id="28" name="Text 26"/>
          <p:cNvSpPr/>
          <p:nvPr/>
        </p:nvSpPr>
        <p:spPr>
          <a:xfrm>
            <a:off x="5897880" y="4631436"/>
            <a:ext cx="365760" cy="164592"/>
          </a:xfrm>
          <a:prstGeom prst="rect">
            <a:avLst/>
          </a:prstGeom>
          <a:noFill/>
          <a:ln/>
        </p:spPr>
        <p:txBody>
          <a:bodyPr wrap="square" rtlCol="0" anchor="ctr"/>
          <a:lstStyle/>
          <a:p>
            <a:pPr algn="ctr" indent="0" marL="0">
              <a:buNone/>
            </a:pPr>
            <a:r>
              <a:rPr lang="en-US" sz="1300" b="1" dirty="0">
                <a:solidFill>
                  <a:srgbClr val="4C6FFF"/>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548640" y="4828032"/>
            <a:ext cx="11064240" cy="566928"/>
          </a:xfrm>
          <a:prstGeom prst="roundRect">
            <a:avLst>
              <a:gd name="adj" fmla="val 11290"/>
            </a:avLst>
          </a:prstGeom>
          <a:solidFill>
            <a:srgbClr val="1E2761"/>
          </a:solidFill>
          <a:ln w="12700">
            <a:solidFill>
              <a:srgbClr val="CADCFC"/>
            </a:solidFill>
            <a:prstDash val="solid"/>
          </a:ln>
          <a:effectLst>
            <a:outerShdw sx="100000" sy="100000" kx="0" ky="0" algn="bl" rotWithShape="0" blurRad="63500" dist="25400" dir="5400000">
              <a:srgbClr val="1E2761">
                <a:alpha val="10000"/>
              </a:srgbClr>
            </a:outerShdw>
          </a:effectLst>
        </p:spPr>
      </p:sp>
      <p:sp>
        <p:nvSpPr>
          <p:cNvPr id="30" name="Shape 28"/>
          <p:cNvSpPr/>
          <p:nvPr/>
        </p:nvSpPr>
        <p:spPr>
          <a:xfrm>
            <a:off x="658368" y="4937760"/>
            <a:ext cx="347472" cy="347472"/>
          </a:xfrm>
          <a:prstGeom prst="ellipse">
            <a:avLst/>
          </a:prstGeom>
          <a:solidFill>
            <a:srgbClr val="4C6FFF"/>
          </a:solidFill>
          <a:ln/>
        </p:spPr>
      </p:sp>
      <p:sp>
        <p:nvSpPr>
          <p:cNvPr id="31" name="Text 29"/>
          <p:cNvSpPr/>
          <p:nvPr/>
        </p:nvSpPr>
        <p:spPr>
          <a:xfrm>
            <a:off x="658368" y="493776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1143000" y="4828032"/>
            <a:ext cx="3291840" cy="56692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LLM (Tencent Hunyuan via OpenRouter)</a:t>
            </a:r>
            <a:endParaRPr lang="en-US" sz="1250" dirty="0"/>
          </a:p>
        </p:txBody>
      </p:sp>
      <p:sp>
        <p:nvSpPr>
          <p:cNvPr id="33" name="Text 31"/>
          <p:cNvSpPr/>
          <p:nvPr/>
        </p:nvSpPr>
        <p:spPr>
          <a:xfrm>
            <a:off x="4526280" y="4828032"/>
            <a:ext cx="6903720" cy="566928"/>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The query plus retrieved context is sent to the LLM to generate an answer.</a:t>
            </a:r>
            <a:endParaRPr lang="en-US" sz="1050" dirty="0"/>
          </a:p>
        </p:txBody>
      </p:sp>
      <p:sp>
        <p:nvSpPr>
          <p:cNvPr id="34" name="Text 32"/>
          <p:cNvSpPr/>
          <p:nvPr/>
        </p:nvSpPr>
        <p:spPr>
          <a:xfrm>
            <a:off x="5897880" y="5376672"/>
            <a:ext cx="365760" cy="164592"/>
          </a:xfrm>
          <a:prstGeom prst="rect">
            <a:avLst/>
          </a:prstGeom>
          <a:noFill/>
          <a:ln/>
        </p:spPr>
        <p:txBody>
          <a:bodyPr wrap="square" rtlCol="0" anchor="ctr"/>
          <a:lstStyle/>
          <a:p>
            <a:pPr algn="ctr" indent="0" marL="0">
              <a:buNone/>
            </a:pPr>
            <a:r>
              <a:rPr lang="en-US" sz="1300" b="1" dirty="0">
                <a:solidFill>
                  <a:srgbClr val="4C6FFF"/>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548640" y="5573268"/>
            <a:ext cx="11064240" cy="566928"/>
          </a:xfrm>
          <a:prstGeom prst="roundRect">
            <a:avLst>
              <a:gd name="adj" fmla="val 11290"/>
            </a:avLst>
          </a:prstGeom>
          <a:solidFill>
            <a:srgbClr val="FFFFFF"/>
          </a:solidFill>
          <a:ln w="12700">
            <a:solidFill>
              <a:srgbClr val="CADCFC"/>
            </a:solidFill>
            <a:prstDash val="solid"/>
          </a:ln>
          <a:effectLst>
            <a:outerShdw sx="100000" sy="100000" kx="0" ky="0" algn="bl" rotWithShape="0" blurRad="63500" dist="25400" dir="5400000">
              <a:srgbClr val="1E2761">
                <a:alpha val="10000"/>
              </a:srgbClr>
            </a:outerShdw>
          </a:effectLst>
        </p:spPr>
      </p:sp>
      <p:sp>
        <p:nvSpPr>
          <p:cNvPr id="36" name="Shape 34"/>
          <p:cNvSpPr/>
          <p:nvPr/>
        </p:nvSpPr>
        <p:spPr>
          <a:xfrm>
            <a:off x="658368" y="5682996"/>
            <a:ext cx="347472" cy="347472"/>
          </a:xfrm>
          <a:prstGeom prst="ellipse">
            <a:avLst/>
          </a:prstGeom>
          <a:solidFill>
            <a:srgbClr val="4C6FFF"/>
          </a:solidFill>
          <a:ln/>
        </p:spPr>
      </p:sp>
      <p:sp>
        <p:nvSpPr>
          <p:cNvPr id="37" name="Text 35"/>
          <p:cNvSpPr/>
          <p:nvPr/>
        </p:nvSpPr>
        <p:spPr>
          <a:xfrm>
            <a:off x="658368" y="5682996"/>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8" name="Text 36"/>
          <p:cNvSpPr/>
          <p:nvPr/>
        </p:nvSpPr>
        <p:spPr>
          <a:xfrm>
            <a:off x="1143000" y="5573268"/>
            <a:ext cx="3291840" cy="56692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Final Response</a:t>
            </a:r>
            <a:endParaRPr lang="en-US" sz="1250" dirty="0"/>
          </a:p>
        </p:txBody>
      </p:sp>
      <p:sp>
        <p:nvSpPr>
          <p:cNvPr id="39" name="Text 37"/>
          <p:cNvSpPr/>
          <p:nvPr/>
        </p:nvSpPr>
        <p:spPr>
          <a:xfrm>
            <a:off x="4526280" y="5573268"/>
            <a:ext cx="6903720" cy="566928"/>
          </a:xfrm>
          <a:prstGeom prst="rect">
            <a:avLst/>
          </a:prstGeom>
          <a:noFill/>
          <a:ln/>
        </p:spPr>
        <p:txBody>
          <a:bodyPr wrap="square" rtlCol="0" anchor="ctr"/>
          <a:lstStyle/>
          <a:p>
            <a:pPr indent="0" marL="0">
              <a:buNone/>
            </a:pPr>
            <a:r>
              <a:rPr lang="en-US" sz="1050" dirty="0">
                <a:solidFill>
                  <a:srgbClr val="5B6785"/>
                </a:solidFill>
                <a:latin typeface="Calibri" pitchFamily="34" charset="0"/>
                <a:ea typeface="Calibri" pitchFamily="34" charset="-122"/>
                <a:cs typeface="Calibri" pitchFamily="34" charset="-120"/>
              </a:rPr>
              <a:t>The grounded, context-aware answer is returned to the user.</a:t>
            </a:r>
            <a:endParaRPr lang="en-US" sz="1050" dirty="0"/>
          </a:p>
        </p:txBody>
      </p:sp>
      <p:sp>
        <p:nvSpPr>
          <p:cNvPr id="40" name="Text 38"/>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41" name="Text 39"/>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Technologies Used</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Tools and libraries behind the pipeline, and why each was chosen</a:t>
            </a:r>
            <a:endParaRPr lang="en-US" sz="1400" dirty="0"/>
          </a:p>
        </p:txBody>
      </p:sp>
      <p:sp>
        <p:nvSpPr>
          <p:cNvPr id="100" name="Shape"/>
          <p:cNvSpPr/>
          <p:nvPr/>
        </p:nvSpPr>
        <p:spPr>
          <a:xfrm>
            <a:off x="548640" y="1828800"/>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01" name="Shape"/>
          <p:cNvSpPr/>
          <p:nvPr/>
        </p:nvSpPr>
        <p:spPr>
          <a:xfrm>
            <a:off x="678640" y="2029968"/>
            <a:ext cx="400000" cy="400000"/>
          </a:xfrm>
          <a:prstGeom prst="ellipse">
            <a:avLst/>
          </a:prstGeom>
          <a:solidFill>
            <a:srgbClr val="4C6FFF"/>
          </a:solidFill>
          <a:ln/>
        </p:spPr>
      </p:sp>
      <p:sp>
        <p:nvSpPr>
          <p:cNvPr id="102" name="Text"/>
          <p:cNvSpPr/>
          <p:nvPr/>
        </p:nvSpPr>
        <p:spPr>
          <a:xfrm>
            <a:off x="678640" y="2029968"/>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a:t>
            </a:r>
            <a:endParaRPr lang="en-US" sz="1100" dirty="0"/>
          </a:p>
        </p:txBody>
      </p:sp>
      <p:sp>
        <p:nvSpPr>
          <p:cNvPr id="103" name="Text"/>
          <p:cNvSpPr/>
          <p:nvPr/>
        </p:nvSpPr>
        <p:spPr>
          <a:xfrm>
            <a:off x="1198640" y="2009968"/>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Python</a:t>
            </a:r>
            <a:endParaRPr lang="en-US" sz="1050" dirty="0"/>
          </a:p>
        </p:txBody>
      </p:sp>
      <p:sp>
        <p:nvSpPr>
          <p:cNvPr id="104" name="Text"/>
          <p:cNvSpPr/>
          <p:nvPr/>
        </p:nvSpPr>
        <p:spPr>
          <a:xfrm>
            <a:off x="678640" y="2518800"/>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Core programming language for the whole application.</a:t>
            </a:r>
            <a:endParaRPr lang="en-US" sz="850" dirty="0"/>
          </a:p>
        </p:txBody>
      </p:sp>
      <p:sp>
        <p:nvSpPr>
          <p:cNvPr id="105" name="Shape"/>
          <p:cNvSpPr/>
          <p:nvPr/>
        </p:nvSpPr>
        <p:spPr>
          <a:xfrm>
            <a:off x="2804769" y="1828800"/>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06" name="Shape"/>
          <p:cNvSpPr/>
          <p:nvPr/>
        </p:nvSpPr>
        <p:spPr>
          <a:xfrm>
            <a:off x="2934769" y="2029968"/>
            <a:ext cx="400000" cy="400000"/>
          </a:xfrm>
          <a:prstGeom prst="ellipse">
            <a:avLst/>
          </a:prstGeom>
          <a:solidFill>
            <a:srgbClr val="4C6FFF"/>
          </a:solidFill>
          <a:ln/>
        </p:spPr>
      </p:sp>
      <p:sp>
        <p:nvSpPr>
          <p:cNvPr id="107" name="Text"/>
          <p:cNvSpPr/>
          <p:nvPr/>
        </p:nvSpPr>
        <p:spPr>
          <a:xfrm>
            <a:off x="2934769" y="2029968"/>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Lc</a:t>
            </a:r>
            <a:endParaRPr lang="en-US" sz="1100" dirty="0"/>
          </a:p>
        </p:txBody>
      </p:sp>
      <p:sp>
        <p:nvSpPr>
          <p:cNvPr id="108" name="Text"/>
          <p:cNvSpPr/>
          <p:nvPr/>
        </p:nvSpPr>
        <p:spPr>
          <a:xfrm>
            <a:off x="3454769" y="2009968"/>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LangChain</a:t>
            </a:r>
            <a:endParaRPr lang="en-US" sz="1050" dirty="0"/>
          </a:p>
        </p:txBody>
      </p:sp>
      <p:sp>
        <p:nvSpPr>
          <p:cNvPr id="109" name="Text"/>
          <p:cNvSpPr/>
          <p:nvPr/>
        </p:nvSpPr>
        <p:spPr>
          <a:xfrm>
            <a:off x="2934769" y="2518800"/>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Framework used to build and connect the RAG pipeline steps.</a:t>
            </a:r>
            <a:endParaRPr lang="en-US" sz="850" dirty="0"/>
          </a:p>
        </p:txBody>
      </p:sp>
      <p:sp>
        <p:nvSpPr>
          <p:cNvPr id="110" name="Shape"/>
          <p:cNvSpPr/>
          <p:nvPr/>
        </p:nvSpPr>
        <p:spPr>
          <a:xfrm>
            <a:off x="5060898" y="1828800"/>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11" name="Shape"/>
          <p:cNvSpPr/>
          <p:nvPr/>
        </p:nvSpPr>
        <p:spPr>
          <a:xfrm>
            <a:off x="5190898" y="2029968"/>
            <a:ext cx="400000" cy="400000"/>
          </a:xfrm>
          <a:prstGeom prst="ellipse">
            <a:avLst/>
          </a:prstGeom>
          <a:solidFill>
            <a:srgbClr val="4C6FFF"/>
          </a:solidFill>
          <a:ln/>
        </p:spPr>
      </p:sp>
      <p:sp>
        <p:nvSpPr>
          <p:cNvPr id="112" name="Text"/>
          <p:cNvSpPr/>
          <p:nvPr/>
        </p:nvSpPr>
        <p:spPr>
          <a:xfrm>
            <a:off x="5190898" y="2029968"/>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Db</a:t>
            </a:r>
            <a:endParaRPr lang="en-US" sz="1100" dirty="0"/>
          </a:p>
        </p:txBody>
      </p:sp>
      <p:sp>
        <p:nvSpPr>
          <p:cNvPr id="113" name="Text"/>
          <p:cNvSpPr/>
          <p:nvPr/>
        </p:nvSpPr>
        <p:spPr>
          <a:xfrm>
            <a:off x="5710898" y="2009968"/>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ChromaDB</a:t>
            </a:r>
            <a:endParaRPr lang="en-US" sz="1050" dirty="0"/>
          </a:p>
        </p:txBody>
      </p:sp>
      <p:sp>
        <p:nvSpPr>
          <p:cNvPr id="114" name="Text"/>
          <p:cNvSpPr/>
          <p:nvPr/>
        </p:nvSpPr>
        <p:spPr>
          <a:xfrm>
            <a:off x="5190898" y="2518800"/>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Vector database used to store and search document embeddings.</a:t>
            </a:r>
            <a:endParaRPr lang="en-US" sz="850" dirty="0"/>
          </a:p>
        </p:txBody>
      </p:sp>
      <p:sp>
        <p:nvSpPr>
          <p:cNvPr id="115" name="Shape"/>
          <p:cNvSpPr/>
          <p:nvPr/>
        </p:nvSpPr>
        <p:spPr>
          <a:xfrm>
            <a:off x="7317027" y="1828800"/>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16" name="Shape"/>
          <p:cNvSpPr/>
          <p:nvPr/>
        </p:nvSpPr>
        <p:spPr>
          <a:xfrm>
            <a:off x="7447027" y="2029968"/>
            <a:ext cx="400000" cy="400000"/>
          </a:xfrm>
          <a:prstGeom prst="ellipse">
            <a:avLst/>
          </a:prstGeom>
          <a:solidFill>
            <a:srgbClr val="4C6FFF"/>
          </a:solidFill>
          <a:ln/>
        </p:spPr>
      </p:sp>
      <p:sp>
        <p:nvSpPr>
          <p:cNvPr id="117" name="Text"/>
          <p:cNvSpPr/>
          <p:nvPr/>
        </p:nvSpPr>
        <p:spPr>
          <a:xfrm>
            <a:off x="7447027" y="2029968"/>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Hf</a:t>
            </a:r>
            <a:endParaRPr lang="en-US" sz="1100" dirty="0"/>
          </a:p>
        </p:txBody>
      </p:sp>
      <p:sp>
        <p:nvSpPr>
          <p:cNvPr id="118" name="Text"/>
          <p:cNvSpPr/>
          <p:nvPr/>
        </p:nvSpPr>
        <p:spPr>
          <a:xfrm>
            <a:off x="7967027" y="2009968"/>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HuggingFace Embeddings</a:t>
            </a:r>
            <a:endParaRPr lang="en-US" sz="1050" dirty="0"/>
          </a:p>
        </p:txBody>
      </p:sp>
      <p:sp>
        <p:nvSpPr>
          <p:cNvPr id="119" name="Text"/>
          <p:cNvSpPr/>
          <p:nvPr/>
        </p:nvSpPr>
        <p:spPr>
          <a:xfrm>
            <a:off x="7447027" y="2518800"/>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Converts text into vector embeddings for similarity search.</a:t>
            </a:r>
            <a:endParaRPr lang="en-US" sz="850" dirty="0"/>
          </a:p>
        </p:txBody>
      </p:sp>
      <p:sp>
        <p:nvSpPr>
          <p:cNvPr id="120" name="Shape"/>
          <p:cNvSpPr/>
          <p:nvPr/>
        </p:nvSpPr>
        <p:spPr>
          <a:xfrm>
            <a:off x="9573156" y="1828800"/>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21" name="Shape"/>
          <p:cNvSpPr/>
          <p:nvPr/>
        </p:nvSpPr>
        <p:spPr>
          <a:xfrm>
            <a:off x="9703156" y="2029968"/>
            <a:ext cx="400000" cy="400000"/>
          </a:xfrm>
          <a:prstGeom prst="ellipse">
            <a:avLst/>
          </a:prstGeom>
          <a:solidFill>
            <a:srgbClr val="4C6FFF"/>
          </a:solidFill>
          <a:ln/>
        </p:spPr>
      </p:sp>
      <p:sp>
        <p:nvSpPr>
          <p:cNvPr id="122" name="Text"/>
          <p:cNvSpPr/>
          <p:nvPr/>
        </p:nvSpPr>
        <p:spPr>
          <a:xfrm>
            <a:off x="9703156" y="2029968"/>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t>
            </a:r>
            <a:endParaRPr lang="en-US" sz="1100" dirty="0"/>
          </a:p>
        </p:txBody>
      </p:sp>
      <p:sp>
        <p:nvSpPr>
          <p:cNvPr id="123" name="Text"/>
          <p:cNvSpPr/>
          <p:nvPr/>
        </p:nvSpPr>
        <p:spPr>
          <a:xfrm>
            <a:off x="10223156" y="2009968"/>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Streamlit</a:t>
            </a:r>
            <a:endParaRPr lang="en-US" sz="1050" dirty="0"/>
          </a:p>
        </p:txBody>
      </p:sp>
      <p:sp>
        <p:nvSpPr>
          <p:cNvPr id="124" name="Text"/>
          <p:cNvSpPr/>
          <p:nvPr/>
        </p:nvSpPr>
        <p:spPr>
          <a:xfrm>
            <a:off x="9703156" y="2518800"/>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Provides the interactive web UI for the application.</a:t>
            </a:r>
            <a:endParaRPr lang="en-US" sz="850" dirty="0"/>
          </a:p>
        </p:txBody>
      </p:sp>
      <p:sp>
        <p:nvSpPr>
          <p:cNvPr id="125" name="Shape"/>
          <p:cNvSpPr/>
          <p:nvPr/>
        </p:nvSpPr>
        <p:spPr>
          <a:xfrm>
            <a:off x="548640" y="3310128"/>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26" name="Shape"/>
          <p:cNvSpPr/>
          <p:nvPr/>
        </p:nvSpPr>
        <p:spPr>
          <a:xfrm>
            <a:off x="678640" y="3511296"/>
            <a:ext cx="400000" cy="400000"/>
          </a:xfrm>
          <a:prstGeom prst="ellipse">
            <a:avLst/>
          </a:prstGeom>
          <a:solidFill>
            <a:srgbClr val="4C6FFF"/>
          </a:solidFill>
          <a:ln/>
        </p:spPr>
      </p:sp>
      <p:sp>
        <p:nvSpPr>
          <p:cNvPr id="127" name="Text"/>
          <p:cNvSpPr/>
          <p:nvPr/>
        </p:nvSpPr>
        <p:spPr>
          <a:xfrm>
            <a:off x="678640" y="3511296"/>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a:t>
            </a:r>
            <a:endParaRPr lang="en-US" sz="1100" dirty="0"/>
          </a:p>
        </p:txBody>
      </p:sp>
      <p:sp>
        <p:nvSpPr>
          <p:cNvPr id="128" name="Text"/>
          <p:cNvSpPr/>
          <p:nvPr/>
        </p:nvSpPr>
        <p:spPr>
          <a:xfrm>
            <a:off x="1198640" y="3491296"/>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OpenRouter API</a:t>
            </a:r>
            <a:endParaRPr lang="en-US" sz="1050" dirty="0"/>
          </a:p>
        </p:txBody>
      </p:sp>
      <p:sp>
        <p:nvSpPr>
          <p:cNvPr id="129" name="Text"/>
          <p:cNvSpPr/>
          <p:nvPr/>
        </p:nvSpPr>
        <p:spPr>
          <a:xfrm>
            <a:off x="678640" y="4000128"/>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Provides unified API access to the LLM used for generation.</a:t>
            </a:r>
            <a:endParaRPr lang="en-US" sz="850" dirty="0"/>
          </a:p>
        </p:txBody>
      </p:sp>
      <p:sp>
        <p:nvSpPr>
          <p:cNvPr id="130" name="Shape"/>
          <p:cNvSpPr/>
          <p:nvPr/>
        </p:nvSpPr>
        <p:spPr>
          <a:xfrm>
            <a:off x="2804769" y="3310128"/>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31" name="Shape"/>
          <p:cNvSpPr/>
          <p:nvPr/>
        </p:nvSpPr>
        <p:spPr>
          <a:xfrm>
            <a:off x="2934769" y="3511296"/>
            <a:ext cx="400000" cy="400000"/>
          </a:xfrm>
          <a:prstGeom prst="ellipse">
            <a:avLst/>
          </a:prstGeom>
          <a:solidFill>
            <a:srgbClr val="4C6FFF"/>
          </a:solidFill>
          <a:ln/>
        </p:spPr>
      </p:sp>
      <p:sp>
        <p:nvSpPr>
          <p:cNvPr id="132" name="Text"/>
          <p:cNvSpPr/>
          <p:nvPr/>
        </p:nvSpPr>
        <p:spPr>
          <a:xfrm>
            <a:off x="2934769" y="3511296"/>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Hy</a:t>
            </a:r>
            <a:endParaRPr lang="en-US" sz="1100" dirty="0"/>
          </a:p>
        </p:txBody>
      </p:sp>
      <p:sp>
        <p:nvSpPr>
          <p:cNvPr id="133" name="Text"/>
          <p:cNvSpPr/>
          <p:nvPr/>
        </p:nvSpPr>
        <p:spPr>
          <a:xfrm>
            <a:off x="3454769" y="3491296"/>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Tencent Hunyuan Model</a:t>
            </a:r>
            <a:endParaRPr lang="en-US" sz="1050" dirty="0"/>
          </a:p>
        </p:txBody>
      </p:sp>
      <p:sp>
        <p:nvSpPr>
          <p:cNvPr id="134" name="Text"/>
          <p:cNvSpPr/>
          <p:nvPr/>
        </p:nvSpPr>
        <p:spPr>
          <a:xfrm>
            <a:off x="2934769" y="4000128"/>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The LLM used to generate final answers from retrieved context.</a:t>
            </a:r>
            <a:endParaRPr lang="en-US" sz="850" dirty="0"/>
          </a:p>
        </p:txBody>
      </p:sp>
      <p:sp>
        <p:nvSpPr>
          <p:cNvPr id="135" name="Shape"/>
          <p:cNvSpPr/>
          <p:nvPr/>
        </p:nvSpPr>
        <p:spPr>
          <a:xfrm>
            <a:off x="5060898" y="3310128"/>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36" name="Shape"/>
          <p:cNvSpPr/>
          <p:nvPr/>
        </p:nvSpPr>
        <p:spPr>
          <a:xfrm>
            <a:off x="5190898" y="3511296"/>
            <a:ext cx="400000" cy="400000"/>
          </a:xfrm>
          <a:prstGeom prst="ellipse">
            <a:avLst/>
          </a:prstGeom>
          <a:solidFill>
            <a:srgbClr val="4C6FFF"/>
          </a:solidFill>
          <a:ln/>
        </p:spPr>
      </p:sp>
      <p:sp>
        <p:nvSpPr>
          <p:cNvPr id="137" name="Text"/>
          <p:cNvSpPr/>
          <p:nvPr/>
        </p:nvSpPr>
        <p:spPr>
          <a:xfrm>
            <a:off x="5190898" y="3511296"/>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a:t>
            </a:r>
            <a:endParaRPr lang="en-US" sz="1100" dirty="0"/>
          </a:p>
        </p:txBody>
      </p:sp>
      <p:sp>
        <p:nvSpPr>
          <p:cNvPr id="138" name="Text"/>
          <p:cNvSpPr/>
          <p:nvPr/>
        </p:nvSpPr>
        <p:spPr>
          <a:xfrm>
            <a:off x="5710898" y="3491296"/>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dotenv</a:t>
            </a:r>
            <a:endParaRPr lang="en-US" sz="1050" dirty="0"/>
          </a:p>
        </p:txBody>
      </p:sp>
      <p:sp>
        <p:nvSpPr>
          <p:cNvPr id="139" name="Text"/>
          <p:cNvSpPr/>
          <p:nvPr/>
        </p:nvSpPr>
        <p:spPr>
          <a:xfrm>
            <a:off x="5190898" y="4000128"/>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Loads API keys from a .env file, keeping secrets out of code.</a:t>
            </a:r>
            <a:endParaRPr lang="en-US" sz="850" dirty="0"/>
          </a:p>
        </p:txBody>
      </p:sp>
      <p:sp>
        <p:nvSpPr>
          <p:cNvPr id="140" name="Shape"/>
          <p:cNvSpPr/>
          <p:nvPr/>
        </p:nvSpPr>
        <p:spPr>
          <a:xfrm>
            <a:off x="7317027" y="3310128"/>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41" name="Shape"/>
          <p:cNvSpPr/>
          <p:nvPr/>
        </p:nvSpPr>
        <p:spPr>
          <a:xfrm>
            <a:off x="7447027" y="3511296"/>
            <a:ext cx="400000" cy="400000"/>
          </a:xfrm>
          <a:prstGeom prst="ellipse">
            <a:avLst/>
          </a:prstGeom>
          <a:solidFill>
            <a:srgbClr val="4C6FFF"/>
          </a:solidFill>
          <a:ln/>
        </p:spPr>
      </p:sp>
      <p:sp>
        <p:nvSpPr>
          <p:cNvPr id="142" name="Text"/>
          <p:cNvSpPr/>
          <p:nvPr/>
        </p:nvSpPr>
        <p:spPr>
          <a:xfrm>
            <a:off x="7447027" y="3511296"/>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Dk</a:t>
            </a:r>
            <a:endParaRPr lang="en-US" sz="1100" dirty="0"/>
          </a:p>
        </p:txBody>
      </p:sp>
      <p:sp>
        <p:nvSpPr>
          <p:cNvPr id="143" name="Text"/>
          <p:cNvSpPr/>
          <p:nvPr/>
        </p:nvSpPr>
        <p:spPr>
          <a:xfrm>
            <a:off x="7967027" y="3491296"/>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Docker</a:t>
            </a:r>
            <a:endParaRPr lang="en-US" sz="1050" dirty="0"/>
          </a:p>
        </p:txBody>
      </p:sp>
      <p:sp>
        <p:nvSpPr>
          <p:cNvPr id="144" name="Text"/>
          <p:cNvSpPr/>
          <p:nvPr/>
        </p:nvSpPr>
        <p:spPr>
          <a:xfrm>
            <a:off x="7447027" y="4000128"/>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Packages the application so it runs consistently across environments.</a:t>
            </a:r>
            <a:endParaRPr lang="en-US" sz="850" dirty="0"/>
          </a:p>
        </p:txBody>
      </p:sp>
      <p:sp>
        <p:nvSpPr>
          <p:cNvPr id="145" name="Shape"/>
          <p:cNvSpPr/>
          <p:nvPr/>
        </p:nvSpPr>
        <p:spPr>
          <a:xfrm>
            <a:off x="9573156" y="3310128"/>
            <a:ext cx="2103729" cy="1298448"/>
          </a:xfrm>
          <a:prstGeom prst="roundRect">
            <a:avLst>
              <a:gd name="adj" fmla="val 5634"/>
            </a:avLst>
          </a:prstGeom>
          <a:solidFill>
            <a:srgbClr val="FFFFFF"/>
          </a:solidFill>
          <a:ln/>
          <a:effectLst>
            <a:outerShdw sx="100000" sy="100000" kx="0" ky="0" algn="bl" rotWithShape="0" blurRad="63500" dist="25400" dir="5400000">
              <a:srgbClr val="1E2761">
                <a:alpha val="10000"/>
              </a:srgbClr>
            </a:outerShdw>
          </a:effectLst>
        </p:spPr>
      </p:sp>
      <p:sp>
        <p:nvSpPr>
          <p:cNvPr id="146" name="Shape"/>
          <p:cNvSpPr/>
          <p:nvPr/>
        </p:nvSpPr>
        <p:spPr>
          <a:xfrm>
            <a:off x="9703156" y="3511296"/>
            <a:ext cx="400000" cy="400000"/>
          </a:xfrm>
          <a:prstGeom prst="ellipse">
            <a:avLst/>
          </a:prstGeom>
          <a:solidFill>
            <a:srgbClr val="4C6FFF"/>
          </a:solidFill>
          <a:ln/>
        </p:spPr>
      </p:sp>
      <p:sp>
        <p:nvSpPr>
          <p:cNvPr id="147" name="Text"/>
          <p:cNvSpPr/>
          <p:nvPr/>
        </p:nvSpPr>
        <p:spPr>
          <a:xfrm>
            <a:off x="9703156" y="3511296"/>
            <a:ext cx="400000" cy="4000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Vs</a:t>
            </a:r>
            <a:endParaRPr lang="en-US" sz="1100" dirty="0"/>
          </a:p>
        </p:txBody>
      </p:sp>
      <p:sp>
        <p:nvSpPr>
          <p:cNvPr id="148" name="Text"/>
          <p:cNvSpPr/>
          <p:nvPr/>
        </p:nvSpPr>
        <p:spPr>
          <a:xfrm>
            <a:off x="10223156" y="3491296"/>
            <a:ext cx="1323729" cy="47004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VS Code</a:t>
            </a:r>
            <a:endParaRPr lang="en-US" sz="1050" dirty="0"/>
          </a:p>
        </p:txBody>
      </p:sp>
      <p:sp>
        <p:nvSpPr>
          <p:cNvPr id="149" name="Text"/>
          <p:cNvSpPr/>
          <p:nvPr/>
        </p:nvSpPr>
        <p:spPr>
          <a:xfrm>
            <a:off x="9703156" y="4000128"/>
            <a:ext cx="1843729" cy="590000"/>
          </a:xfrm>
          <a:prstGeom prst="rect">
            <a:avLst/>
          </a:prstGeom>
          <a:noFill/>
          <a:ln/>
        </p:spPr>
        <p:txBody>
          <a:bodyPr wrap="square" rtlCol="0" anchor="t"/>
          <a:lstStyle/>
          <a:p>
            <a:pPr indent="0" marL="0">
              <a:buNone/>
            </a:pPr>
            <a:r>
              <a:rPr lang="en-US" sz="850" dirty="0">
                <a:solidFill>
                  <a:srgbClr val="5B6785"/>
                </a:solidFill>
                <a:latin typeface="Calibri" pitchFamily="34" charset="0"/>
                <a:ea typeface="Calibri" pitchFamily="34" charset="-122"/>
                <a:cs typeface="Calibri" pitchFamily="34" charset="-120"/>
              </a:rPr>
              <a:t>Code editor used for development, debugging and testing.</a:t>
            </a:r>
            <a:endParaRPr lang="en-US" sz="850" dirty="0"/>
          </a:p>
        </p:txBody>
      </p:sp>
      <p:sp>
        <p:nvSpPr>
          <p:cNvPr id="50" name="Text 48"/>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51" name="Text 49"/>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Project Workflow</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Step-by-step flow from raw documents to a final answer</a:t>
            </a:r>
            <a:endParaRPr lang="en-US" sz="1400" dirty="0"/>
          </a:p>
        </p:txBody>
      </p:sp>
      <p:sp>
        <p:nvSpPr>
          <p:cNvPr id="4" name="Shape 2"/>
          <p:cNvSpPr/>
          <p:nvPr/>
        </p:nvSpPr>
        <p:spPr>
          <a:xfrm>
            <a:off x="548640" y="1481328"/>
            <a:ext cx="502920" cy="54864"/>
          </a:xfrm>
          <a:prstGeom prst="rect">
            <a:avLst/>
          </a:prstGeom>
          <a:solidFill>
            <a:srgbClr val="4C6FFF"/>
          </a:solidFill>
          <a:ln/>
        </p:spPr>
      </p:sp>
      <p:sp>
        <p:nvSpPr>
          <p:cNvPr id="5" name="Shape 3"/>
          <p:cNvSpPr/>
          <p:nvPr/>
        </p:nvSpPr>
        <p:spPr>
          <a:xfrm>
            <a:off x="1042416" y="1920240"/>
            <a:ext cx="22860" cy="3493008"/>
          </a:xfrm>
          <a:prstGeom prst="rect">
            <a:avLst/>
          </a:prstGeom>
          <a:solidFill>
            <a:srgbClr val="CADCFC"/>
          </a:solidFill>
          <a:ln/>
        </p:spPr>
      </p:sp>
      <p:sp>
        <p:nvSpPr>
          <p:cNvPr id="6" name="Shape 4"/>
          <p:cNvSpPr/>
          <p:nvPr/>
        </p:nvSpPr>
        <p:spPr>
          <a:xfrm>
            <a:off x="822960" y="1874520"/>
            <a:ext cx="457200" cy="457200"/>
          </a:xfrm>
          <a:prstGeom prst="ellipse">
            <a:avLst/>
          </a:prstGeom>
          <a:solidFill>
            <a:srgbClr val="1E2761"/>
          </a:solidFill>
          <a:ln/>
        </p:spPr>
      </p:sp>
      <p:sp>
        <p:nvSpPr>
          <p:cNvPr id="7" name="Text 5"/>
          <p:cNvSpPr/>
          <p:nvPr/>
        </p:nvSpPr>
        <p:spPr>
          <a:xfrm>
            <a:off x="822960" y="187452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Shape 6"/>
          <p:cNvSpPr/>
          <p:nvPr/>
        </p:nvSpPr>
        <p:spPr>
          <a:xfrm>
            <a:off x="1508760" y="1892808"/>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9" name="Text 7"/>
          <p:cNvSpPr/>
          <p:nvPr/>
        </p:nvSpPr>
        <p:spPr>
          <a:xfrm>
            <a:off x="1737360" y="1892808"/>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Load documents into the application</a:t>
            </a:r>
            <a:endParaRPr lang="en-US" sz="1300" dirty="0"/>
          </a:p>
        </p:txBody>
      </p:sp>
      <p:sp>
        <p:nvSpPr>
          <p:cNvPr id="10" name="Shape 8"/>
          <p:cNvSpPr/>
          <p:nvPr/>
        </p:nvSpPr>
        <p:spPr>
          <a:xfrm>
            <a:off x="822960" y="2441448"/>
            <a:ext cx="457200" cy="457200"/>
          </a:xfrm>
          <a:prstGeom prst="ellipse">
            <a:avLst/>
          </a:prstGeom>
          <a:solidFill>
            <a:srgbClr val="4C6FFF"/>
          </a:solidFill>
          <a:ln/>
        </p:spPr>
      </p:sp>
      <p:sp>
        <p:nvSpPr>
          <p:cNvPr id="11" name="Text 9"/>
          <p:cNvSpPr/>
          <p:nvPr/>
        </p:nvSpPr>
        <p:spPr>
          <a:xfrm>
            <a:off x="822960" y="244144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Shape 10"/>
          <p:cNvSpPr/>
          <p:nvPr/>
        </p:nvSpPr>
        <p:spPr>
          <a:xfrm>
            <a:off x="1508760" y="2459736"/>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13" name="Text 11"/>
          <p:cNvSpPr/>
          <p:nvPr/>
        </p:nvSpPr>
        <p:spPr>
          <a:xfrm>
            <a:off x="1737360" y="2459736"/>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Create embeddings for the document chunks</a:t>
            </a:r>
            <a:endParaRPr lang="en-US" sz="1300" dirty="0"/>
          </a:p>
        </p:txBody>
      </p:sp>
      <p:sp>
        <p:nvSpPr>
          <p:cNvPr id="14" name="Shape 12"/>
          <p:cNvSpPr/>
          <p:nvPr/>
        </p:nvSpPr>
        <p:spPr>
          <a:xfrm>
            <a:off x="822960" y="3008376"/>
            <a:ext cx="457200" cy="457200"/>
          </a:xfrm>
          <a:prstGeom prst="ellipse">
            <a:avLst/>
          </a:prstGeom>
          <a:solidFill>
            <a:srgbClr val="1E2761"/>
          </a:solidFill>
          <a:ln/>
        </p:spPr>
      </p:sp>
      <p:sp>
        <p:nvSpPr>
          <p:cNvPr id="15" name="Text 13"/>
          <p:cNvSpPr/>
          <p:nvPr/>
        </p:nvSpPr>
        <p:spPr>
          <a:xfrm>
            <a:off x="822960" y="3008376"/>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Shape 14"/>
          <p:cNvSpPr/>
          <p:nvPr/>
        </p:nvSpPr>
        <p:spPr>
          <a:xfrm>
            <a:off x="1508760" y="3026664"/>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17" name="Text 15"/>
          <p:cNvSpPr/>
          <p:nvPr/>
        </p:nvSpPr>
        <p:spPr>
          <a:xfrm>
            <a:off x="1737360" y="3026664"/>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Store the vectors in ChromaDB</a:t>
            </a:r>
            <a:endParaRPr lang="en-US" sz="1300" dirty="0"/>
          </a:p>
        </p:txBody>
      </p:sp>
      <p:sp>
        <p:nvSpPr>
          <p:cNvPr id="18" name="Shape 16"/>
          <p:cNvSpPr/>
          <p:nvPr/>
        </p:nvSpPr>
        <p:spPr>
          <a:xfrm>
            <a:off x="822960" y="3575304"/>
            <a:ext cx="457200" cy="457200"/>
          </a:xfrm>
          <a:prstGeom prst="ellipse">
            <a:avLst/>
          </a:prstGeom>
          <a:solidFill>
            <a:srgbClr val="4C6FFF"/>
          </a:solidFill>
          <a:ln/>
        </p:spPr>
      </p:sp>
      <p:sp>
        <p:nvSpPr>
          <p:cNvPr id="19" name="Text 17"/>
          <p:cNvSpPr/>
          <p:nvPr/>
        </p:nvSpPr>
        <p:spPr>
          <a:xfrm>
            <a:off x="822960" y="357530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Shape 18"/>
          <p:cNvSpPr/>
          <p:nvPr/>
        </p:nvSpPr>
        <p:spPr>
          <a:xfrm>
            <a:off x="1508760" y="3593592"/>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21" name="Text 19"/>
          <p:cNvSpPr/>
          <p:nvPr/>
        </p:nvSpPr>
        <p:spPr>
          <a:xfrm>
            <a:off x="1737360" y="3593592"/>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User asks a question</a:t>
            </a:r>
            <a:endParaRPr lang="en-US" sz="1300" dirty="0"/>
          </a:p>
        </p:txBody>
      </p:sp>
      <p:sp>
        <p:nvSpPr>
          <p:cNvPr id="22" name="Shape 20"/>
          <p:cNvSpPr/>
          <p:nvPr/>
        </p:nvSpPr>
        <p:spPr>
          <a:xfrm>
            <a:off x="822960" y="4142232"/>
            <a:ext cx="457200" cy="457200"/>
          </a:xfrm>
          <a:prstGeom prst="ellipse">
            <a:avLst/>
          </a:prstGeom>
          <a:solidFill>
            <a:srgbClr val="1E2761"/>
          </a:solidFill>
          <a:ln/>
        </p:spPr>
      </p:sp>
      <p:sp>
        <p:nvSpPr>
          <p:cNvPr id="23" name="Text 21"/>
          <p:cNvSpPr/>
          <p:nvPr/>
        </p:nvSpPr>
        <p:spPr>
          <a:xfrm>
            <a:off x="822960" y="41422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Shape 22"/>
          <p:cNvSpPr/>
          <p:nvPr/>
        </p:nvSpPr>
        <p:spPr>
          <a:xfrm>
            <a:off x="1508760" y="4160520"/>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25" name="Text 23"/>
          <p:cNvSpPr/>
          <p:nvPr/>
        </p:nvSpPr>
        <p:spPr>
          <a:xfrm>
            <a:off x="1737360" y="4160520"/>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History-aware query generation reformulates the question</a:t>
            </a:r>
            <a:endParaRPr lang="en-US" sz="1300" dirty="0"/>
          </a:p>
        </p:txBody>
      </p:sp>
      <p:sp>
        <p:nvSpPr>
          <p:cNvPr id="26" name="Shape 24"/>
          <p:cNvSpPr/>
          <p:nvPr/>
        </p:nvSpPr>
        <p:spPr>
          <a:xfrm>
            <a:off x="822960" y="4709160"/>
            <a:ext cx="457200" cy="457200"/>
          </a:xfrm>
          <a:prstGeom prst="ellipse">
            <a:avLst/>
          </a:prstGeom>
          <a:solidFill>
            <a:srgbClr val="4C6FFF"/>
          </a:solidFill>
          <a:ln/>
        </p:spPr>
      </p:sp>
      <p:sp>
        <p:nvSpPr>
          <p:cNvPr id="27" name="Text 25"/>
          <p:cNvSpPr/>
          <p:nvPr/>
        </p:nvSpPr>
        <p:spPr>
          <a:xfrm>
            <a:off x="822960" y="47091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Shape 26"/>
          <p:cNvSpPr/>
          <p:nvPr/>
        </p:nvSpPr>
        <p:spPr>
          <a:xfrm>
            <a:off x="1508760" y="4727448"/>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29" name="Text 27"/>
          <p:cNvSpPr/>
          <p:nvPr/>
        </p:nvSpPr>
        <p:spPr>
          <a:xfrm>
            <a:off x="1737360" y="4727448"/>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Retrieve the most relevant chunks from ChromaDB</a:t>
            </a:r>
            <a:endParaRPr lang="en-US" sz="1300" dirty="0"/>
          </a:p>
        </p:txBody>
      </p:sp>
      <p:sp>
        <p:nvSpPr>
          <p:cNvPr id="30" name="Shape 28"/>
          <p:cNvSpPr/>
          <p:nvPr/>
        </p:nvSpPr>
        <p:spPr>
          <a:xfrm>
            <a:off x="822960" y="5276088"/>
            <a:ext cx="457200" cy="457200"/>
          </a:xfrm>
          <a:prstGeom prst="ellipse">
            <a:avLst/>
          </a:prstGeom>
          <a:solidFill>
            <a:srgbClr val="1E2761"/>
          </a:solidFill>
          <a:ln/>
        </p:spPr>
      </p:sp>
      <p:sp>
        <p:nvSpPr>
          <p:cNvPr id="31" name="Text 29"/>
          <p:cNvSpPr/>
          <p:nvPr/>
        </p:nvSpPr>
        <p:spPr>
          <a:xfrm>
            <a:off x="822960" y="527608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Shape 30"/>
          <p:cNvSpPr/>
          <p:nvPr/>
        </p:nvSpPr>
        <p:spPr>
          <a:xfrm>
            <a:off x="1508760" y="5294376"/>
            <a:ext cx="9784080" cy="420624"/>
          </a:xfrm>
          <a:prstGeom prst="roundRect">
            <a:avLst>
              <a:gd name="adj" fmla="val 13043"/>
            </a:avLst>
          </a:prstGeom>
          <a:solidFill>
            <a:srgbClr val="FFFFFF"/>
          </a:solidFill>
          <a:ln/>
          <a:effectLst>
            <a:outerShdw sx="100000" sy="100000" kx="0" ky="0" algn="bl" rotWithShape="0" blurRad="50800" dist="12700" dir="5400000">
              <a:srgbClr val="1E2761">
                <a:alpha val="9000"/>
              </a:srgbClr>
            </a:outerShdw>
          </a:effectLst>
        </p:spPr>
      </p:sp>
      <p:sp>
        <p:nvSpPr>
          <p:cNvPr id="33" name="Text 31"/>
          <p:cNvSpPr/>
          <p:nvPr/>
        </p:nvSpPr>
        <p:spPr>
          <a:xfrm>
            <a:off x="1737360" y="5294376"/>
            <a:ext cx="9326880" cy="420624"/>
          </a:xfrm>
          <a:prstGeom prst="rect">
            <a:avLst/>
          </a:prstGeom>
          <a:noFill/>
          <a:ln/>
        </p:spPr>
        <p:txBody>
          <a:bodyPr wrap="square" rtlCol="0" anchor="ctr"/>
          <a:lstStyle/>
          <a:p>
            <a:pPr indent="0" marL="0">
              <a:buNone/>
            </a:pPr>
            <a:r>
              <a:rPr lang="en-US" sz="1300" dirty="0">
                <a:solidFill>
                  <a:srgbClr val="26304A"/>
                </a:solidFill>
                <a:latin typeface="Calibri" pitchFamily="34" charset="0"/>
                <a:ea typeface="Calibri" pitchFamily="34" charset="-122"/>
                <a:cs typeface="Calibri" pitchFamily="34" charset="-120"/>
              </a:rPr>
              <a:t>Generate the final answer using the LLM</a:t>
            </a:r>
            <a:endParaRPr lang="en-US" sz="1300" dirty="0"/>
          </a:p>
        </p:txBody>
      </p:sp>
      <p:sp>
        <p:nvSpPr>
          <p:cNvPr id="34" name="Text 32"/>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35" name="Text 33"/>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Project Features</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What the application currently supports</a:t>
            </a:r>
            <a:endParaRPr lang="en-US" sz="1400" dirty="0"/>
          </a:p>
        </p:txBody>
      </p:sp>
      <p:sp>
        <p:nvSpPr>
          <p:cNvPr id="4" name="Shape 2"/>
          <p:cNvSpPr/>
          <p:nvPr/>
        </p:nvSpPr>
        <p:spPr>
          <a:xfrm>
            <a:off x="548640" y="1481328"/>
            <a:ext cx="502920" cy="54864"/>
          </a:xfrm>
          <a:prstGeom prst="rect">
            <a:avLst/>
          </a:prstGeom>
          <a:solidFill>
            <a:srgbClr val="4C6FFF"/>
          </a:solidFill>
          <a:ln/>
        </p:spPr>
      </p:sp>
      <p:sp>
        <p:nvSpPr>
          <p:cNvPr id="5" name="Shape 3"/>
          <p:cNvSpPr/>
          <p:nvPr/>
        </p:nvSpPr>
        <p:spPr>
          <a:xfrm>
            <a:off x="548640" y="1828800"/>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6" name="Shape 4"/>
          <p:cNvSpPr/>
          <p:nvPr/>
        </p:nvSpPr>
        <p:spPr>
          <a:xfrm>
            <a:off x="749808" y="2125980"/>
            <a:ext cx="457200" cy="457200"/>
          </a:xfrm>
          <a:prstGeom prst="ellipse">
            <a:avLst/>
          </a:prstGeom>
          <a:solidFill>
            <a:srgbClr val="4C6FFF"/>
          </a:solidFill>
          <a:ln/>
        </p:spPr>
      </p:sp>
      <p:sp>
        <p:nvSpPr>
          <p:cNvPr id="7" name="Text 5"/>
          <p:cNvSpPr/>
          <p:nvPr/>
        </p:nvSpPr>
        <p:spPr>
          <a:xfrm>
            <a:off x="749808" y="212598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1371600" y="1956816"/>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Semantic Search</a:t>
            </a:r>
            <a:endParaRPr lang="en-US" sz="1300" dirty="0"/>
          </a:p>
        </p:txBody>
      </p:sp>
      <p:sp>
        <p:nvSpPr>
          <p:cNvPr id="9" name="Text 7"/>
          <p:cNvSpPr/>
          <p:nvPr/>
        </p:nvSpPr>
        <p:spPr>
          <a:xfrm>
            <a:off x="1371600" y="2286000"/>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Finds documents based on meaning, not just keyword matching.</a:t>
            </a:r>
            <a:endParaRPr lang="en-US" sz="1030" dirty="0"/>
          </a:p>
        </p:txBody>
      </p:sp>
      <p:sp>
        <p:nvSpPr>
          <p:cNvPr id="10" name="Shape 8"/>
          <p:cNvSpPr/>
          <p:nvPr/>
        </p:nvSpPr>
        <p:spPr>
          <a:xfrm>
            <a:off x="6172200" y="1828800"/>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11" name="Shape 9"/>
          <p:cNvSpPr/>
          <p:nvPr/>
        </p:nvSpPr>
        <p:spPr>
          <a:xfrm>
            <a:off x="6373368" y="2125980"/>
            <a:ext cx="457200" cy="457200"/>
          </a:xfrm>
          <a:prstGeom prst="ellipse">
            <a:avLst/>
          </a:prstGeom>
          <a:solidFill>
            <a:srgbClr val="4C6FFF"/>
          </a:solidFill>
          <a:ln/>
        </p:spPr>
      </p:sp>
      <p:sp>
        <p:nvSpPr>
          <p:cNvPr id="12" name="Text 10"/>
          <p:cNvSpPr/>
          <p:nvPr/>
        </p:nvSpPr>
        <p:spPr>
          <a:xfrm>
            <a:off x="6373368" y="212598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6995160" y="1956816"/>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Context Retrieval</a:t>
            </a:r>
            <a:endParaRPr lang="en-US" sz="1300" dirty="0"/>
          </a:p>
        </p:txBody>
      </p:sp>
      <p:sp>
        <p:nvSpPr>
          <p:cNvPr id="14" name="Text 12"/>
          <p:cNvSpPr/>
          <p:nvPr/>
        </p:nvSpPr>
        <p:spPr>
          <a:xfrm>
            <a:off x="6995160" y="2286000"/>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Pulls the most relevant chunks to ground each answer.</a:t>
            </a:r>
            <a:endParaRPr lang="en-US" sz="1030" dirty="0"/>
          </a:p>
        </p:txBody>
      </p:sp>
      <p:sp>
        <p:nvSpPr>
          <p:cNvPr id="15" name="Shape 13"/>
          <p:cNvSpPr/>
          <p:nvPr/>
        </p:nvSpPr>
        <p:spPr>
          <a:xfrm>
            <a:off x="548640" y="3026664"/>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16" name="Shape 14"/>
          <p:cNvSpPr/>
          <p:nvPr/>
        </p:nvSpPr>
        <p:spPr>
          <a:xfrm>
            <a:off x="749808" y="3323844"/>
            <a:ext cx="457200" cy="457200"/>
          </a:xfrm>
          <a:prstGeom prst="ellipse">
            <a:avLst/>
          </a:prstGeom>
          <a:solidFill>
            <a:srgbClr val="4C6FFF"/>
          </a:solidFill>
          <a:ln/>
        </p:spPr>
      </p:sp>
      <p:sp>
        <p:nvSpPr>
          <p:cNvPr id="17" name="Text 15"/>
          <p:cNvSpPr/>
          <p:nvPr/>
        </p:nvSpPr>
        <p:spPr>
          <a:xfrm>
            <a:off x="749808" y="3323844"/>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1371600" y="3154680"/>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History-Aware Conversation</a:t>
            </a:r>
            <a:endParaRPr lang="en-US" sz="1300" dirty="0"/>
          </a:p>
        </p:txBody>
      </p:sp>
      <p:sp>
        <p:nvSpPr>
          <p:cNvPr id="19" name="Text 17"/>
          <p:cNvSpPr/>
          <p:nvPr/>
        </p:nvSpPr>
        <p:spPr>
          <a:xfrm>
            <a:off x="1371600" y="3483864"/>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Understands follow-up questions using chat history.</a:t>
            </a:r>
            <a:endParaRPr lang="en-US" sz="1030" dirty="0"/>
          </a:p>
        </p:txBody>
      </p:sp>
      <p:sp>
        <p:nvSpPr>
          <p:cNvPr id="20" name="Shape 18"/>
          <p:cNvSpPr/>
          <p:nvPr/>
        </p:nvSpPr>
        <p:spPr>
          <a:xfrm>
            <a:off x="6172200" y="3026664"/>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21" name="Shape 19"/>
          <p:cNvSpPr/>
          <p:nvPr/>
        </p:nvSpPr>
        <p:spPr>
          <a:xfrm>
            <a:off x="6373368" y="3323844"/>
            <a:ext cx="457200" cy="457200"/>
          </a:xfrm>
          <a:prstGeom prst="ellipse">
            <a:avLst/>
          </a:prstGeom>
          <a:solidFill>
            <a:srgbClr val="4C6FFF"/>
          </a:solidFill>
          <a:ln/>
        </p:spPr>
      </p:sp>
      <p:sp>
        <p:nvSpPr>
          <p:cNvPr id="22" name="Text 20"/>
          <p:cNvSpPr/>
          <p:nvPr/>
        </p:nvSpPr>
        <p:spPr>
          <a:xfrm>
            <a:off x="6373368" y="3323844"/>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6995160" y="3154680"/>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Fast Vector Search</a:t>
            </a:r>
            <a:endParaRPr lang="en-US" sz="1300" dirty="0"/>
          </a:p>
        </p:txBody>
      </p:sp>
      <p:sp>
        <p:nvSpPr>
          <p:cNvPr id="24" name="Text 22"/>
          <p:cNvSpPr/>
          <p:nvPr/>
        </p:nvSpPr>
        <p:spPr>
          <a:xfrm>
            <a:off x="6995160" y="3483864"/>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ChromaDB enables quick similarity search over embeddings.</a:t>
            </a:r>
            <a:endParaRPr lang="en-US" sz="1030" dirty="0"/>
          </a:p>
        </p:txBody>
      </p:sp>
      <p:sp>
        <p:nvSpPr>
          <p:cNvPr id="25" name="Shape 23"/>
          <p:cNvSpPr/>
          <p:nvPr/>
        </p:nvSpPr>
        <p:spPr>
          <a:xfrm>
            <a:off x="548640" y="4224528"/>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26" name="Shape 24"/>
          <p:cNvSpPr/>
          <p:nvPr/>
        </p:nvSpPr>
        <p:spPr>
          <a:xfrm>
            <a:off x="749808" y="4521708"/>
            <a:ext cx="457200" cy="457200"/>
          </a:xfrm>
          <a:prstGeom prst="ellipse">
            <a:avLst/>
          </a:prstGeom>
          <a:solidFill>
            <a:srgbClr val="4C6FFF"/>
          </a:solidFill>
          <a:ln/>
        </p:spPr>
      </p:sp>
      <p:sp>
        <p:nvSpPr>
          <p:cNvPr id="27" name="Text 25"/>
          <p:cNvSpPr/>
          <p:nvPr/>
        </p:nvSpPr>
        <p:spPr>
          <a:xfrm>
            <a:off x="749808" y="4521708"/>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1371600" y="4352544"/>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Docker Support</a:t>
            </a:r>
            <a:endParaRPr lang="en-US" sz="1300" dirty="0"/>
          </a:p>
        </p:txBody>
      </p:sp>
      <p:sp>
        <p:nvSpPr>
          <p:cNvPr id="29" name="Text 27"/>
          <p:cNvSpPr/>
          <p:nvPr/>
        </p:nvSpPr>
        <p:spPr>
          <a:xfrm>
            <a:off x="1371600" y="4681728"/>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Application can be built and run inside a container.</a:t>
            </a:r>
            <a:endParaRPr lang="en-US" sz="1030" dirty="0"/>
          </a:p>
        </p:txBody>
      </p:sp>
      <p:sp>
        <p:nvSpPr>
          <p:cNvPr id="30" name="Shape 28"/>
          <p:cNvSpPr/>
          <p:nvPr/>
        </p:nvSpPr>
        <p:spPr>
          <a:xfrm>
            <a:off x="6172200" y="4224528"/>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31" name="Shape 29"/>
          <p:cNvSpPr/>
          <p:nvPr/>
        </p:nvSpPr>
        <p:spPr>
          <a:xfrm>
            <a:off x="6373368" y="4521708"/>
            <a:ext cx="457200" cy="457200"/>
          </a:xfrm>
          <a:prstGeom prst="ellipse">
            <a:avLst/>
          </a:prstGeom>
          <a:solidFill>
            <a:srgbClr val="4C6FFF"/>
          </a:solidFill>
          <a:ln/>
        </p:spPr>
      </p:sp>
      <p:sp>
        <p:nvSpPr>
          <p:cNvPr id="32" name="Text 30"/>
          <p:cNvSpPr/>
          <p:nvPr/>
        </p:nvSpPr>
        <p:spPr>
          <a:xfrm>
            <a:off x="6373368" y="4521708"/>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3" name="Text 31"/>
          <p:cNvSpPr/>
          <p:nvPr/>
        </p:nvSpPr>
        <p:spPr>
          <a:xfrm>
            <a:off x="6995160" y="4352544"/>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Modular Python Scripts</a:t>
            </a:r>
            <a:endParaRPr lang="en-US" sz="1300" dirty="0"/>
          </a:p>
        </p:txBody>
      </p:sp>
      <p:sp>
        <p:nvSpPr>
          <p:cNvPr id="34" name="Text 32"/>
          <p:cNvSpPr/>
          <p:nvPr/>
        </p:nvSpPr>
        <p:spPr>
          <a:xfrm>
            <a:off x="6995160" y="4681728"/>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Code is organised into separate, reusable modules.</a:t>
            </a:r>
            <a:endParaRPr lang="en-US" sz="1030" dirty="0"/>
          </a:p>
        </p:txBody>
      </p:sp>
      <p:sp>
        <p:nvSpPr>
          <p:cNvPr id="35" name="Shape 33"/>
          <p:cNvSpPr/>
          <p:nvPr/>
        </p:nvSpPr>
        <p:spPr>
          <a:xfrm>
            <a:off x="548640" y="5422392"/>
            <a:ext cx="5440680" cy="1051560"/>
          </a:xfrm>
          <a:prstGeom prst="roundRect">
            <a:avLst>
              <a:gd name="adj" fmla="val 6957"/>
            </a:avLst>
          </a:prstGeom>
          <a:solidFill>
            <a:srgbClr val="FFFFFF"/>
          </a:solidFill>
          <a:ln/>
          <a:effectLst>
            <a:outerShdw sx="100000" sy="100000" kx="0" ky="0" algn="bl" rotWithShape="0" blurRad="63500" dist="25400" dir="5400000">
              <a:srgbClr val="1E2761">
                <a:alpha val="10000"/>
              </a:srgbClr>
            </a:outerShdw>
          </a:effectLst>
        </p:spPr>
      </p:sp>
      <p:sp>
        <p:nvSpPr>
          <p:cNvPr id="36" name="Shape 34"/>
          <p:cNvSpPr/>
          <p:nvPr/>
        </p:nvSpPr>
        <p:spPr>
          <a:xfrm>
            <a:off x="749808" y="5719572"/>
            <a:ext cx="457200" cy="457200"/>
          </a:xfrm>
          <a:prstGeom prst="ellipse">
            <a:avLst/>
          </a:prstGeom>
          <a:solidFill>
            <a:srgbClr val="4C6FFF"/>
          </a:solidFill>
          <a:ln/>
        </p:spPr>
      </p:sp>
      <p:sp>
        <p:nvSpPr>
          <p:cNvPr id="37" name="Text 35"/>
          <p:cNvSpPr/>
          <p:nvPr/>
        </p:nvSpPr>
        <p:spPr>
          <a:xfrm>
            <a:off x="749808" y="5719572"/>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8" name="Text 36"/>
          <p:cNvSpPr/>
          <p:nvPr/>
        </p:nvSpPr>
        <p:spPr>
          <a:xfrm>
            <a:off x="1371600" y="5550408"/>
            <a:ext cx="44348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Environment Variables (.env)</a:t>
            </a:r>
            <a:endParaRPr lang="en-US" sz="1300" dirty="0"/>
          </a:p>
        </p:txBody>
      </p:sp>
      <p:sp>
        <p:nvSpPr>
          <p:cNvPr id="39" name="Text 37"/>
          <p:cNvSpPr/>
          <p:nvPr/>
        </p:nvSpPr>
        <p:spPr>
          <a:xfrm>
            <a:off x="1371600" y="5879592"/>
            <a:ext cx="4434840" cy="502920"/>
          </a:xfrm>
          <a:prstGeom prst="rect">
            <a:avLst/>
          </a:prstGeom>
          <a:noFill/>
          <a:ln/>
        </p:spPr>
        <p:txBody>
          <a:bodyPr wrap="square" rtlCol="0" anchor="ctr"/>
          <a:lstStyle/>
          <a:p>
            <a:pPr indent="0" marL="0">
              <a:buNone/>
            </a:pPr>
            <a:r>
              <a:rPr lang="en-US" sz="1030" dirty="0">
                <a:solidFill>
                  <a:srgbClr val="5B6785"/>
                </a:solidFill>
                <a:latin typeface="Calibri" pitchFamily="34" charset="0"/>
                <a:ea typeface="Calibri" pitchFamily="34" charset="-122"/>
                <a:cs typeface="Calibri" pitchFamily="34" charset="-120"/>
              </a:rPr>
              <a:t>API keys and configuration are kept outside the codebase.</a:t>
            </a:r>
            <a:endParaRPr lang="en-US" sz="1030" dirty="0"/>
          </a:p>
        </p:txBody>
      </p:sp>
      <p:sp>
        <p:nvSpPr>
          <p:cNvPr id="40" name="Text 38"/>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41" name="Text 39"/>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Challenges and Learning</a:t>
            </a:r>
            <a:endParaRPr lang="en-US" sz="3200" dirty="0"/>
          </a:p>
        </p:txBody>
      </p:sp>
      <p:sp>
        <p:nvSpPr>
          <p:cNvPr id="3" name="Text 1"/>
          <p:cNvSpPr/>
          <p:nvPr/>
        </p:nvSpPr>
        <p:spPr>
          <a:xfrm>
            <a:off x="548640" y="1051560"/>
            <a:ext cx="11064240" cy="365760"/>
          </a:xfrm>
          <a:prstGeom prst="rect">
            <a:avLst/>
          </a:prstGeom>
          <a:noFill/>
          <a:ln/>
        </p:spPr>
        <p:txBody>
          <a:bodyPr wrap="square" rtlCol="0" anchor="ctr"/>
          <a:lstStyle/>
          <a:p>
            <a:pPr indent="0" marL="0">
              <a:buNone/>
            </a:pPr>
            <a:r>
              <a:rPr lang="en-US" sz="1400" i="1" dirty="0">
                <a:solidFill>
                  <a:srgbClr val="5B6785"/>
                </a:solidFill>
                <a:latin typeface="Calibri" pitchFamily="34" charset="0"/>
                <a:ea typeface="Calibri" pitchFamily="34" charset="-122"/>
                <a:cs typeface="Calibri" pitchFamily="34" charset="-120"/>
              </a:rPr>
              <a:t>Key difficulties faced and skills gained while building this project</a:t>
            </a:r>
            <a:endParaRPr lang="en-US" sz="1400" dirty="0"/>
          </a:p>
        </p:txBody>
      </p:sp>
      <p:sp>
        <p:nvSpPr>
          <p:cNvPr id="4" name="Shape 2"/>
          <p:cNvSpPr/>
          <p:nvPr/>
        </p:nvSpPr>
        <p:spPr>
          <a:xfrm>
            <a:off x="548640" y="1481328"/>
            <a:ext cx="502920" cy="54864"/>
          </a:xfrm>
          <a:prstGeom prst="rect">
            <a:avLst/>
          </a:prstGeom>
          <a:solidFill>
            <a:srgbClr val="4C6FFF"/>
          </a:solidFill>
          <a:ln/>
        </p:spPr>
      </p:sp>
      <p:sp>
        <p:nvSpPr>
          <p:cNvPr id="5" name="Shape 3"/>
          <p:cNvSpPr/>
          <p:nvPr/>
        </p:nvSpPr>
        <p:spPr>
          <a:xfrm>
            <a:off x="548640" y="1828800"/>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6" name="Shape 4"/>
          <p:cNvSpPr/>
          <p:nvPr/>
        </p:nvSpPr>
        <p:spPr>
          <a:xfrm>
            <a:off x="548640" y="1828800"/>
            <a:ext cx="54864" cy="822960"/>
          </a:xfrm>
          <a:prstGeom prst="rect">
            <a:avLst/>
          </a:prstGeom>
          <a:solidFill>
            <a:srgbClr val="1E2761"/>
          </a:solidFill>
          <a:ln/>
        </p:spPr>
      </p:sp>
      <p:sp>
        <p:nvSpPr>
          <p:cNvPr id="7" name="Text 5"/>
          <p:cNvSpPr/>
          <p:nvPr/>
        </p:nvSpPr>
        <p:spPr>
          <a:xfrm>
            <a:off x="804672" y="1920240"/>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Understanding vector databases</a:t>
            </a:r>
            <a:endParaRPr lang="en-US" sz="1250" dirty="0"/>
          </a:p>
        </p:txBody>
      </p:sp>
      <p:sp>
        <p:nvSpPr>
          <p:cNvPr id="8" name="Text 6"/>
          <p:cNvSpPr/>
          <p:nvPr/>
        </p:nvSpPr>
        <p:spPr>
          <a:xfrm>
            <a:off x="804672" y="2212848"/>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Learning how embeddings are stored and searched using similarity metrics.</a:t>
            </a:r>
            <a:endParaRPr lang="en-US" sz="1000" dirty="0"/>
          </a:p>
        </p:txBody>
      </p:sp>
      <p:sp>
        <p:nvSpPr>
          <p:cNvPr id="9" name="Shape 7"/>
          <p:cNvSpPr/>
          <p:nvPr/>
        </p:nvSpPr>
        <p:spPr>
          <a:xfrm>
            <a:off x="548640" y="2816352"/>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10" name="Shape 8"/>
          <p:cNvSpPr/>
          <p:nvPr/>
        </p:nvSpPr>
        <p:spPr>
          <a:xfrm>
            <a:off x="548640" y="2816352"/>
            <a:ext cx="54864" cy="822960"/>
          </a:xfrm>
          <a:prstGeom prst="rect">
            <a:avLst/>
          </a:prstGeom>
          <a:solidFill>
            <a:srgbClr val="1E2761"/>
          </a:solidFill>
          <a:ln/>
        </p:spPr>
      </p:sp>
      <p:sp>
        <p:nvSpPr>
          <p:cNvPr id="11" name="Text 9"/>
          <p:cNvSpPr/>
          <p:nvPr/>
        </p:nvSpPr>
        <p:spPr>
          <a:xfrm>
            <a:off x="804672" y="2907792"/>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Docker setup</a:t>
            </a:r>
            <a:endParaRPr lang="en-US" sz="1250" dirty="0"/>
          </a:p>
        </p:txBody>
      </p:sp>
      <p:sp>
        <p:nvSpPr>
          <p:cNvPr id="12" name="Text 10"/>
          <p:cNvSpPr/>
          <p:nvPr/>
        </p:nvSpPr>
        <p:spPr>
          <a:xfrm>
            <a:off x="804672" y="3200400"/>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Learning to containerize a Python application with correct dependencies.</a:t>
            </a:r>
            <a:endParaRPr lang="en-US" sz="1000" dirty="0"/>
          </a:p>
        </p:txBody>
      </p:sp>
      <p:sp>
        <p:nvSpPr>
          <p:cNvPr id="13" name="Shape 11"/>
          <p:cNvSpPr/>
          <p:nvPr/>
        </p:nvSpPr>
        <p:spPr>
          <a:xfrm>
            <a:off x="548640" y="3803904"/>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14" name="Shape 12"/>
          <p:cNvSpPr/>
          <p:nvPr/>
        </p:nvSpPr>
        <p:spPr>
          <a:xfrm>
            <a:off x="548640" y="3803904"/>
            <a:ext cx="54864" cy="822960"/>
          </a:xfrm>
          <a:prstGeom prst="rect">
            <a:avLst/>
          </a:prstGeom>
          <a:solidFill>
            <a:srgbClr val="1E2761"/>
          </a:solidFill>
          <a:ln/>
        </p:spPr>
      </p:sp>
      <p:sp>
        <p:nvSpPr>
          <p:cNvPr id="15" name="Text 13"/>
          <p:cNvSpPr/>
          <p:nvPr/>
        </p:nvSpPr>
        <p:spPr>
          <a:xfrm>
            <a:off x="804672" y="3895344"/>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Managing embeddings</a:t>
            </a:r>
            <a:endParaRPr lang="en-US" sz="1250" dirty="0"/>
          </a:p>
        </p:txBody>
      </p:sp>
      <p:sp>
        <p:nvSpPr>
          <p:cNvPr id="16" name="Text 14"/>
          <p:cNvSpPr/>
          <p:nvPr/>
        </p:nvSpPr>
        <p:spPr>
          <a:xfrm>
            <a:off x="804672" y="4187952"/>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Handling embedding generation and keeping it consistent with the stored data.</a:t>
            </a:r>
            <a:endParaRPr lang="en-US" sz="1000" dirty="0"/>
          </a:p>
        </p:txBody>
      </p:sp>
      <p:sp>
        <p:nvSpPr>
          <p:cNvPr id="17" name="Shape 15"/>
          <p:cNvSpPr/>
          <p:nvPr/>
        </p:nvSpPr>
        <p:spPr>
          <a:xfrm>
            <a:off x="548640" y="4791456"/>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18" name="Shape 16"/>
          <p:cNvSpPr/>
          <p:nvPr/>
        </p:nvSpPr>
        <p:spPr>
          <a:xfrm>
            <a:off x="548640" y="4791456"/>
            <a:ext cx="54864" cy="822960"/>
          </a:xfrm>
          <a:prstGeom prst="rect">
            <a:avLst/>
          </a:prstGeom>
          <a:solidFill>
            <a:srgbClr val="1E2761"/>
          </a:solidFill>
          <a:ln/>
        </p:spPr>
      </p:sp>
      <p:sp>
        <p:nvSpPr>
          <p:cNvPr id="19" name="Text 17"/>
          <p:cNvSpPr/>
          <p:nvPr/>
        </p:nvSpPr>
        <p:spPr>
          <a:xfrm>
            <a:off x="804672" y="4882896"/>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API integration</a:t>
            </a:r>
            <a:endParaRPr lang="en-US" sz="1250" dirty="0"/>
          </a:p>
        </p:txBody>
      </p:sp>
      <p:sp>
        <p:nvSpPr>
          <p:cNvPr id="20" name="Text 18"/>
          <p:cNvSpPr/>
          <p:nvPr/>
        </p:nvSpPr>
        <p:spPr>
          <a:xfrm>
            <a:off x="804672" y="5175504"/>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Connecting to OpenRouter and handling requests and responses correctly.</a:t>
            </a:r>
            <a:endParaRPr lang="en-US" sz="1000" dirty="0"/>
          </a:p>
        </p:txBody>
      </p:sp>
      <p:sp>
        <p:nvSpPr>
          <p:cNvPr id="21" name="Shape 19"/>
          <p:cNvSpPr/>
          <p:nvPr/>
        </p:nvSpPr>
        <p:spPr>
          <a:xfrm>
            <a:off x="6172200" y="1828800"/>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22" name="Shape 20"/>
          <p:cNvSpPr/>
          <p:nvPr/>
        </p:nvSpPr>
        <p:spPr>
          <a:xfrm>
            <a:off x="6172200" y="1828800"/>
            <a:ext cx="54864" cy="822960"/>
          </a:xfrm>
          <a:prstGeom prst="rect">
            <a:avLst/>
          </a:prstGeom>
          <a:solidFill>
            <a:srgbClr val="1E2761"/>
          </a:solidFill>
          <a:ln/>
        </p:spPr>
      </p:sp>
      <p:sp>
        <p:nvSpPr>
          <p:cNvPr id="23" name="Text 21"/>
          <p:cNvSpPr/>
          <p:nvPr/>
        </p:nvSpPr>
        <p:spPr>
          <a:xfrm>
            <a:off x="6428232" y="1920240"/>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Prompt engineering</a:t>
            </a:r>
            <a:endParaRPr lang="en-US" sz="1250" dirty="0"/>
          </a:p>
        </p:txBody>
      </p:sp>
      <p:sp>
        <p:nvSpPr>
          <p:cNvPr id="24" name="Text 22"/>
          <p:cNvSpPr/>
          <p:nvPr/>
        </p:nvSpPr>
        <p:spPr>
          <a:xfrm>
            <a:off x="6428232" y="2212848"/>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Writing prompts that guide the LLM to use retrieved context properly.</a:t>
            </a:r>
            <a:endParaRPr lang="en-US" sz="1000" dirty="0"/>
          </a:p>
        </p:txBody>
      </p:sp>
      <p:sp>
        <p:nvSpPr>
          <p:cNvPr id="25" name="Shape 23"/>
          <p:cNvSpPr/>
          <p:nvPr/>
        </p:nvSpPr>
        <p:spPr>
          <a:xfrm>
            <a:off x="6172200" y="2816352"/>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26" name="Shape 24"/>
          <p:cNvSpPr/>
          <p:nvPr/>
        </p:nvSpPr>
        <p:spPr>
          <a:xfrm>
            <a:off x="6172200" y="2816352"/>
            <a:ext cx="54864" cy="822960"/>
          </a:xfrm>
          <a:prstGeom prst="rect">
            <a:avLst/>
          </a:prstGeom>
          <a:solidFill>
            <a:srgbClr val="1E2761"/>
          </a:solidFill>
          <a:ln/>
        </p:spPr>
      </p:sp>
      <p:sp>
        <p:nvSpPr>
          <p:cNvPr id="27" name="Text 25"/>
          <p:cNvSpPr/>
          <p:nvPr/>
        </p:nvSpPr>
        <p:spPr>
          <a:xfrm>
            <a:off x="6428232" y="2907792"/>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Git &amp; GitHub workflow</a:t>
            </a:r>
            <a:endParaRPr lang="en-US" sz="1250" dirty="0"/>
          </a:p>
        </p:txBody>
      </p:sp>
      <p:sp>
        <p:nvSpPr>
          <p:cNvPr id="28" name="Text 26"/>
          <p:cNvSpPr/>
          <p:nvPr/>
        </p:nvSpPr>
        <p:spPr>
          <a:xfrm>
            <a:off x="6428232" y="3200400"/>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Using version control to track changes and manage the codebase.</a:t>
            </a:r>
            <a:endParaRPr lang="en-US" sz="1000" dirty="0"/>
          </a:p>
        </p:txBody>
      </p:sp>
      <p:sp>
        <p:nvSpPr>
          <p:cNvPr id="29" name="Shape 27"/>
          <p:cNvSpPr/>
          <p:nvPr/>
        </p:nvSpPr>
        <p:spPr>
          <a:xfrm>
            <a:off x="6172200" y="3803904"/>
            <a:ext cx="5440680" cy="822960"/>
          </a:xfrm>
          <a:prstGeom prst="roundRect">
            <a:avLst>
              <a:gd name="adj" fmla="val 7778"/>
            </a:avLst>
          </a:prstGeom>
          <a:solidFill>
            <a:srgbClr val="FFFFFF"/>
          </a:solidFill>
          <a:ln/>
          <a:effectLst>
            <a:outerShdw sx="100000" sy="100000" kx="0" ky="0" algn="bl" rotWithShape="0" blurRad="50800" dist="25400" dir="5400000">
              <a:srgbClr val="1E2761">
                <a:alpha val="10000"/>
              </a:srgbClr>
            </a:outerShdw>
          </a:effectLst>
        </p:spPr>
      </p:sp>
      <p:sp>
        <p:nvSpPr>
          <p:cNvPr id="30" name="Shape 28"/>
          <p:cNvSpPr/>
          <p:nvPr/>
        </p:nvSpPr>
        <p:spPr>
          <a:xfrm>
            <a:off x="6172200" y="3803904"/>
            <a:ext cx="54864" cy="822960"/>
          </a:xfrm>
          <a:prstGeom prst="rect">
            <a:avLst/>
          </a:prstGeom>
          <a:solidFill>
            <a:srgbClr val="1E2761"/>
          </a:solidFill>
          <a:ln/>
        </p:spPr>
      </p:sp>
      <p:sp>
        <p:nvSpPr>
          <p:cNvPr id="31" name="Text 29"/>
          <p:cNvSpPr/>
          <p:nvPr/>
        </p:nvSpPr>
        <p:spPr>
          <a:xfrm>
            <a:off x="6428232" y="3895344"/>
            <a:ext cx="498348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LangChain chains</a:t>
            </a:r>
            <a:endParaRPr lang="en-US" sz="1250" dirty="0"/>
          </a:p>
        </p:txBody>
      </p:sp>
      <p:sp>
        <p:nvSpPr>
          <p:cNvPr id="32" name="Text 30"/>
          <p:cNvSpPr/>
          <p:nvPr/>
        </p:nvSpPr>
        <p:spPr>
          <a:xfrm>
            <a:off x="6428232" y="4187952"/>
            <a:ext cx="4983480" cy="402336"/>
          </a:xfrm>
          <a:prstGeom prst="rect">
            <a:avLst/>
          </a:prstGeom>
          <a:noFill/>
          <a:ln/>
        </p:spPr>
        <p:txBody>
          <a:bodyPr wrap="square" rtlCol="0" anchor="ctr"/>
          <a:lstStyle/>
          <a:p>
            <a:pPr indent="0" marL="0">
              <a:buNone/>
            </a:pPr>
            <a:r>
              <a:rPr lang="en-US" sz="1000" dirty="0">
                <a:solidFill>
                  <a:srgbClr val="5B6785"/>
                </a:solidFill>
                <a:latin typeface="Calibri" pitchFamily="34" charset="0"/>
                <a:ea typeface="Calibri" pitchFamily="34" charset="-122"/>
                <a:cs typeface="Calibri" pitchFamily="34" charset="-120"/>
              </a:rPr>
              <a:t>Understanding how to connect retrieval and generation steps into one chain.</a:t>
            </a:r>
            <a:endParaRPr lang="en-US" sz="1000" dirty="0"/>
          </a:p>
        </p:txBody>
      </p:sp>
      <p:sp>
        <p:nvSpPr>
          <p:cNvPr id="33" name="Text 31"/>
          <p:cNvSpPr/>
          <p:nvPr/>
        </p:nvSpPr>
        <p:spPr>
          <a:xfrm>
            <a:off x="457200" y="6519672"/>
            <a:ext cx="8229600" cy="274320"/>
          </a:xfrm>
          <a:prstGeom prst="rect">
            <a:avLst/>
          </a:prstGeom>
          <a:noFill/>
          <a:ln/>
        </p:spPr>
        <p:txBody>
          <a:bodyPr wrap="square" rtlCol="0" anchor="ctr"/>
          <a:lstStyle/>
          <a:p>
            <a:pPr algn="l" indent="0" marL="0">
              <a:buNone/>
            </a:pPr>
            <a:r>
              <a:rPr lang="en-US" sz="900" dirty="0">
                <a:solidFill>
                  <a:srgbClr val="5B6785"/>
                </a:solidFill>
                <a:latin typeface="Calibri" pitchFamily="34" charset="0"/>
                <a:ea typeface="Calibri" pitchFamily="34" charset="-122"/>
                <a:cs typeface="Calibri" pitchFamily="34" charset="-120"/>
              </a:rPr>
              <a:t>RAG Application — LangChain • ChromaDB • OpenRouter</a:t>
            </a:r>
            <a:endParaRPr lang="en-US" sz="900" dirty="0"/>
          </a:p>
        </p:txBody>
      </p:sp>
      <p:sp>
        <p:nvSpPr>
          <p:cNvPr id="34" name="Text 32"/>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5B67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875520" y="-1645920"/>
            <a:ext cx="4206240" cy="4206240"/>
          </a:xfrm>
          <a:prstGeom prst="ellipse">
            <a:avLst/>
          </a:prstGeom>
          <a:solidFill>
            <a:srgbClr val="141B4D"/>
          </a:solidFill>
          <a:ln/>
        </p:spPr>
      </p:sp>
      <p:sp>
        <p:nvSpPr>
          <p:cNvPr id="3" name="Shape 1"/>
          <p:cNvSpPr/>
          <p:nvPr/>
        </p:nvSpPr>
        <p:spPr>
          <a:xfrm>
            <a:off x="-1463040" y="5120640"/>
            <a:ext cx="3474720" cy="3474720"/>
          </a:xfrm>
          <a:prstGeom prst="ellipse">
            <a:avLst/>
          </a:prstGeom>
          <a:solidFill>
            <a:srgbClr val="141B4D"/>
          </a:solidFill>
          <a:ln/>
        </p:spPr>
      </p:sp>
      <p:sp>
        <p:nvSpPr>
          <p:cNvPr id="4" name="Text 2"/>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5" name="Shape 3"/>
          <p:cNvSpPr/>
          <p:nvPr/>
        </p:nvSpPr>
        <p:spPr>
          <a:xfrm>
            <a:off x="548640" y="932688"/>
            <a:ext cx="502920" cy="54864"/>
          </a:xfrm>
          <a:prstGeom prst="rect">
            <a:avLst/>
          </a:prstGeom>
          <a:solidFill>
            <a:srgbClr val="4C6FFF"/>
          </a:solidFill>
          <a:ln/>
        </p:spPr>
      </p:sp>
      <p:sp>
        <p:nvSpPr>
          <p:cNvPr id="6" name="Text 4"/>
          <p:cNvSpPr/>
          <p:nvPr/>
        </p:nvSpPr>
        <p:spPr>
          <a:xfrm>
            <a:off x="548640" y="1143000"/>
            <a:ext cx="5394960" cy="320040"/>
          </a:xfrm>
          <a:prstGeom prst="rect">
            <a:avLst/>
          </a:prstGeom>
          <a:noFill/>
          <a:ln/>
        </p:spPr>
        <p:txBody>
          <a:bodyPr wrap="square"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Conclusion</a:t>
            </a:r>
            <a:endParaRPr lang="en-US" sz="1500" dirty="0"/>
          </a:p>
        </p:txBody>
      </p:sp>
      <p:sp>
        <p:nvSpPr>
          <p:cNvPr id="7" name="Shape 5"/>
          <p:cNvSpPr/>
          <p:nvPr/>
        </p:nvSpPr>
        <p:spPr>
          <a:xfrm>
            <a:off x="548640" y="1481328"/>
            <a:ext cx="5394960" cy="914400"/>
          </a:xfrm>
          <a:prstGeom prst="roundRect">
            <a:avLst>
              <a:gd name="adj" fmla="val 8000"/>
            </a:avLst>
          </a:prstGeom>
          <a:solidFill>
            <a:srgbClr val="141B4D"/>
          </a:solidFill>
          <a:ln w="12700">
            <a:solidFill>
              <a:srgbClr val="4C6FFF"/>
            </a:solidFill>
            <a:prstDash val="solid"/>
          </a:ln>
        </p:spPr>
      </p:sp>
      <p:sp>
        <p:nvSpPr>
          <p:cNvPr id="8" name="Text 6"/>
          <p:cNvSpPr/>
          <p:nvPr/>
        </p:nvSpPr>
        <p:spPr>
          <a:xfrm>
            <a:off x="777240" y="1572768"/>
            <a:ext cx="493776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Successfully built a functional RAG application that retrieves relevant context and generates grounded, history-aware answers.</a:t>
            </a:r>
            <a:endParaRPr lang="en-US" sz="1200" dirty="0"/>
          </a:p>
        </p:txBody>
      </p:sp>
      <p:sp>
        <p:nvSpPr>
          <p:cNvPr id="9" name="Text 7"/>
          <p:cNvSpPr/>
          <p:nvPr/>
        </p:nvSpPr>
        <p:spPr>
          <a:xfrm>
            <a:off x="548640" y="2578608"/>
            <a:ext cx="5394960" cy="320040"/>
          </a:xfrm>
          <a:prstGeom prst="rect">
            <a:avLst/>
          </a:prstGeom>
          <a:noFill/>
          <a:ln/>
        </p:spPr>
        <p:txBody>
          <a:bodyPr wrap="square"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Future Scope</a:t>
            </a:r>
            <a:endParaRPr lang="en-US" sz="1500" dirty="0"/>
          </a:p>
        </p:txBody>
      </p:sp>
      <p:sp>
        <p:nvSpPr>
          <p:cNvPr id="10" name="Shape 8"/>
          <p:cNvSpPr/>
          <p:nvPr/>
        </p:nvSpPr>
        <p:spPr>
          <a:xfrm>
            <a:off x="548640" y="2926080"/>
            <a:ext cx="2606040" cy="502920"/>
          </a:xfrm>
          <a:prstGeom prst="roundRect">
            <a:avLst>
              <a:gd name="adj" fmla="val 10909"/>
            </a:avLst>
          </a:prstGeom>
          <a:solidFill>
            <a:srgbClr val="141B4D"/>
          </a:solidFill>
          <a:ln/>
        </p:spPr>
      </p:sp>
      <p:sp>
        <p:nvSpPr>
          <p:cNvPr id="11" name="Text 9"/>
          <p:cNvSpPr/>
          <p:nvPr/>
        </p:nvSpPr>
        <p:spPr>
          <a:xfrm>
            <a:off x="685800" y="2926080"/>
            <a:ext cx="2331720" cy="5029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 Web Interface</a:t>
            </a:r>
            <a:endParaRPr lang="en-US" sz="1100" dirty="0"/>
          </a:p>
        </p:txBody>
      </p:sp>
      <p:sp>
        <p:nvSpPr>
          <p:cNvPr id="12" name="Shape 10"/>
          <p:cNvSpPr/>
          <p:nvPr/>
        </p:nvSpPr>
        <p:spPr>
          <a:xfrm>
            <a:off x="3337560" y="2926080"/>
            <a:ext cx="2606040" cy="502920"/>
          </a:xfrm>
          <a:prstGeom prst="roundRect">
            <a:avLst>
              <a:gd name="adj" fmla="val 10909"/>
            </a:avLst>
          </a:prstGeom>
          <a:solidFill>
            <a:srgbClr val="141B4D"/>
          </a:solidFill>
          <a:ln/>
        </p:spPr>
      </p:sp>
      <p:sp>
        <p:nvSpPr>
          <p:cNvPr id="13" name="Text 11"/>
          <p:cNvSpPr/>
          <p:nvPr/>
        </p:nvSpPr>
        <p:spPr>
          <a:xfrm>
            <a:off x="3474720" y="2926080"/>
            <a:ext cx="2331720" cy="5029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 PDF Upload</a:t>
            </a:r>
            <a:endParaRPr lang="en-US" sz="1100" dirty="0"/>
          </a:p>
        </p:txBody>
      </p:sp>
      <p:sp>
        <p:nvSpPr>
          <p:cNvPr id="14" name="Shape 12"/>
          <p:cNvSpPr/>
          <p:nvPr/>
        </p:nvSpPr>
        <p:spPr>
          <a:xfrm>
            <a:off x="548640" y="3557016"/>
            <a:ext cx="2606040" cy="502920"/>
          </a:xfrm>
          <a:prstGeom prst="roundRect">
            <a:avLst>
              <a:gd name="adj" fmla="val 10909"/>
            </a:avLst>
          </a:prstGeom>
          <a:solidFill>
            <a:srgbClr val="141B4D"/>
          </a:solidFill>
          <a:ln/>
        </p:spPr>
      </p:sp>
      <p:sp>
        <p:nvSpPr>
          <p:cNvPr id="15" name="Text 13"/>
          <p:cNvSpPr/>
          <p:nvPr/>
        </p:nvSpPr>
        <p:spPr>
          <a:xfrm>
            <a:off x="685800" y="3557016"/>
            <a:ext cx="2331720" cy="5029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 Multiple LLM Support</a:t>
            </a:r>
            <a:endParaRPr lang="en-US" sz="1100" dirty="0"/>
          </a:p>
        </p:txBody>
      </p:sp>
      <p:sp>
        <p:nvSpPr>
          <p:cNvPr id="16" name="Shape 14"/>
          <p:cNvSpPr/>
          <p:nvPr/>
        </p:nvSpPr>
        <p:spPr>
          <a:xfrm>
            <a:off x="3337560" y="3557016"/>
            <a:ext cx="2606040" cy="502920"/>
          </a:xfrm>
          <a:prstGeom prst="roundRect">
            <a:avLst>
              <a:gd name="adj" fmla="val 10909"/>
            </a:avLst>
          </a:prstGeom>
          <a:solidFill>
            <a:srgbClr val="141B4D"/>
          </a:solidFill>
          <a:ln/>
        </p:spPr>
      </p:sp>
      <p:sp>
        <p:nvSpPr>
          <p:cNvPr id="17" name="Text 15"/>
          <p:cNvSpPr/>
          <p:nvPr/>
        </p:nvSpPr>
        <p:spPr>
          <a:xfrm>
            <a:off x="3474720" y="3557016"/>
            <a:ext cx="2331720" cy="5029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 Better Reranking</a:t>
            </a:r>
            <a:endParaRPr lang="en-US" sz="1100" dirty="0"/>
          </a:p>
        </p:txBody>
      </p:sp>
      <p:sp>
        <p:nvSpPr>
          <p:cNvPr id="18" name="Shape 16"/>
          <p:cNvSpPr/>
          <p:nvPr/>
        </p:nvSpPr>
        <p:spPr>
          <a:xfrm>
            <a:off x="548640" y="4187952"/>
            <a:ext cx="2606040" cy="502920"/>
          </a:xfrm>
          <a:prstGeom prst="roundRect">
            <a:avLst>
              <a:gd name="adj" fmla="val 10909"/>
            </a:avLst>
          </a:prstGeom>
          <a:solidFill>
            <a:srgbClr val="141B4D"/>
          </a:solidFill>
          <a:ln/>
        </p:spPr>
      </p:sp>
      <p:sp>
        <p:nvSpPr>
          <p:cNvPr id="19" name="Text 17"/>
          <p:cNvSpPr/>
          <p:nvPr/>
        </p:nvSpPr>
        <p:spPr>
          <a:xfrm>
            <a:off x="685800" y="4187952"/>
            <a:ext cx="2331720" cy="5029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 Authentication</a:t>
            </a:r>
            <a:endParaRPr lang="en-US" sz="1100" dirty="0"/>
          </a:p>
        </p:txBody>
      </p:sp>
      <p:sp>
        <p:nvSpPr>
          <p:cNvPr id="20" name="Shape 18"/>
          <p:cNvSpPr/>
          <p:nvPr/>
        </p:nvSpPr>
        <p:spPr>
          <a:xfrm>
            <a:off x="3337560" y="4187952"/>
            <a:ext cx="2606040" cy="502920"/>
          </a:xfrm>
          <a:prstGeom prst="roundRect">
            <a:avLst>
              <a:gd name="adj" fmla="val 10909"/>
            </a:avLst>
          </a:prstGeom>
          <a:solidFill>
            <a:srgbClr val="141B4D"/>
          </a:solidFill>
          <a:ln/>
        </p:spPr>
      </p:sp>
      <p:sp>
        <p:nvSpPr>
          <p:cNvPr id="21" name="Text 19"/>
          <p:cNvSpPr/>
          <p:nvPr/>
        </p:nvSpPr>
        <p:spPr>
          <a:xfrm>
            <a:off x="3474720" y="4187952"/>
            <a:ext cx="2331720" cy="50292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 Cloud Deployment</a:t>
            </a:r>
            <a:endParaRPr lang="en-US" sz="1100" dirty="0"/>
          </a:p>
        </p:txBody>
      </p:sp>
      <p:sp>
        <p:nvSpPr>
          <p:cNvPr id="22" name="Shape 20"/>
          <p:cNvSpPr/>
          <p:nvPr/>
        </p:nvSpPr>
        <p:spPr>
          <a:xfrm>
            <a:off x="6355080" y="1143000"/>
            <a:ext cx="13716" cy="5349240"/>
          </a:xfrm>
          <a:prstGeom prst="rect">
            <a:avLst/>
          </a:prstGeom>
          <a:solidFill>
            <a:srgbClr val="141B4D"/>
          </a:solidFill>
          <a:ln/>
        </p:spPr>
      </p:sp>
      <p:sp>
        <p:nvSpPr>
          <p:cNvPr id="23" name="Text 21"/>
          <p:cNvSpPr/>
          <p:nvPr/>
        </p:nvSpPr>
        <p:spPr>
          <a:xfrm>
            <a:off x="6675120" y="3063240"/>
            <a:ext cx="4937760" cy="8229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24" name="Shape 22"/>
          <p:cNvSpPr/>
          <p:nvPr/>
        </p:nvSpPr>
        <p:spPr>
          <a:xfrm>
            <a:off x="6675120" y="3886200"/>
            <a:ext cx="502920" cy="54864"/>
          </a:xfrm>
          <a:prstGeom prst="rect">
            <a:avLst/>
          </a:prstGeom>
          <a:solidFill>
            <a:srgbClr val="4C6FFF"/>
          </a:solidFill>
          <a:ln/>
        </p:spPr>
      </p:sp>
      <p:sp>
        <p:nvSpPr>
          <p:cNvPr id="25" name="Text 23"/>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2026-07-16T13:03:59Z</dcterms:created>
  <dcterms:modified xsi:type="dcterms:W3CDTF">2026-07-16T13:03:59Z</dcterms:modified>
</cp:coreProperties>
</file>